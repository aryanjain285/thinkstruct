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YOU HANDLE MISSING FIELDS?</a:t>
            </a:r>
          </a:p>
          <a:p>
            <a:r>
              <a:t>Measured: no field is ever absent, and none is ever empty — except descriptions. 119</a:t>
            </a:r>
          </a:p>
          <a:p>
            <a:r>
              <a:t>patents (18.6%) have descriptions that are present but entirely blank paragraphs. Those</a:t>
            </a:r>
          </a:p>
          <a:p>
            <a:r>
              <a:t>are KEPT and FLAGGED, never excluded: validation grades them 'warning', not 'error',</a:t>
            </a:r>
          </a:p>
          <a:p>
            <a:r>
              <a:t>because they stay fully searchable via claims and abstract. Excluding them would discard</a:t>
            </a:r>
          </a:p>
          <a:p>
            <a:r>
              <a:t>18.6% of the corpus for no gain. Nothing in this dataset is dropped.</a:t>
            </a:r>
          </a:p>
          <a:p/>
          <a:p>
            <a:r>
              <a:t>WHY CLAIM-LEVEL AND NOT PATENT-LEVEL?</a:t>
            </a:r>
          </a:p>
          <a:p>
            <a:r>
              <a:t>Three reasons. (1) Claims are the legal unit — infringement and novelty are determined</a:t>
            </a:r>
          </a:p>
          <a:p>
            <a:r>
              <a:t>claim by claim, so "patent X is relevant" is not an actionable answer. (2) Precision — a</a:t>
            </a:r>
          </a:p>
          <a:p>
            <a:r>
              <a:t>46-claim patent indexed as one document matches nearly any query in its field. (3)</a:t>
            </a:r>
          </a:p>
          <a:p>
            <a:r>
              <a:t>Evidence — every result names the record that matched, so it can be verified.</a:t>
            </a:r>
          </a:p>
          <a:p>
            <a:r>
              <a:t>Results are regrouped by patent for display, scored max(record) + 0.3*mean(next 3), so a</a:t>
            </a:r>
          </a:p>
          <a:p>
            <a:r>
              <a:t>patent matching on several claims outranks one matching by fluke on a single passage.</a:t>
            </a:r>
          </a:p>
          <a:p/>
          <a:p>
            <a:r>
              <a:t>WHY NOT JUST USE AN LLM OVER THE WHOLE CORPUS?</a:t>
            </a:r>
          </a:p>
          <a:p>
            <a:r>
              <a:t>15.4M characters is ~3.8M tokens per query. At scale that is 10M patents. Retrieval</a:t>
            </a:r>
          </a:p>
          <a:p>
            <a:r>
              <a:t>narrows to 50 candidates first; the LLM only ever sees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OPENSEARCH? WHAT WERE THE ALTERNATIVES?</a:t>
            </a:r>
          </a:p>
          <a:p>
            <a:r>
              <a:t>The requirement is lexical scoring, vector similarity AND metadata filtering resolved in</a:t>
            </a:r>
          </a:p>
          <a:p>
            <a:r>
              <a:t>a single query with shared pre-filters. OpenSearch does all three natively. Splitting</a:t>
            </a:r>
          </a:p>
          <a:p>
            <a:r>
              <a:t>across a keyword store and a vector DB means two round-trips, two filter implementations</a:t>
            </a:r>
          </a:p>
          <a:p>
            <a:r>
              <a:t>that can disagree, and client-side merging.</a:t>
            </a:r>
          </a:p>
          <a:p/>
          <a:p>
            <a:r>
              <a:t>- Elasticsearch: near-identical capability. OpenSearch is the Apache-2.0 fork, so no</a:t>
            </a:r>
          </a:p>
          <a:p>
            <a:r>
              <a:t>  licence question.</a:t>
            </a:r>
          </a:p>
          <a:p>
            <a:r>
              <a:t>- Postgres + pgvector: excellent if you already run Postgres, but BM25 is bolted on via</a:t>
            </a:r>
          </a:p>
          <a:p>
            <a:r>
              <a:t>  tsvector and weaker on long technical text.</a:t>
            </a:r>
          </a:p>
          <a:p>
            <a:r>
              <a:t>- Pinecone / Weaviate / Qdrant: better pure-vector ergonomics, but you still need a</a:t>
            </a:r>
          </a:p>
          <a:p>
            <a:r>
              <a:t>  lexical engine beside them — and BM25 proved a STRONG baseline here, so dropping it</a:t>
            </a:r>
          </a:p>
          <a:p>
            <a:r>
              <a:t>  would have hurt.</a:t>
            </a:r>
          </a:p>
          <a:p>
            <a:r>
              <a:t>- Vespa: arguably the best technical fit for hybrid ranking, but far heavier to operate</a:t>
            </a:r>
          </a:p>
          <a:p>
            <a:r>
              <a:t>  for a proof of concept.</a:t>
            </a:r>
          </a:p>
          <a:p>
            <a:r>
              <a:t>- FAISS: a library, not a search engine. No filters, no persistence, no lexical side.</a:t>
            </a:r>
          </a:p>
          <a:p/>
          <a:p>
            <a:r>
              <a:t>The k-NN mapping uses the LUCENE engine specifically because it supports filtering DURING</a:t>
            </a:r>
          </a:p>
          <a:p>
            <a:r>
              <a:t>graph traversal. Every query here carries metadata constraints, so that is not a detail.</a:t>
            </a:r>
          </a:p>
          <a:p/>
          <a:p>
            <a:r>
              <a:t>WHY RRF RATHER THAN WEIGHTED SCORE COMBINATION?</a:t>
            </a:r>
          </a:p>
          <a:p>
            <a:r>
              <a:t>BM25 scores are unbounded and land in the tens; cosine similarity is bounded 0-1. Adding</a:t>
            </a:r>
          </a:p>
          <a:p>
            <a:r>
              <a:t>them requires normalisation that drifts as the corpus changes. RRF uses only rank</a:t>
            </a:r>
          </a:p>
          <a:p>
            <a:r>
              <a:t>position, so it is scale-free and has no weight to tune. The trade-off: it discards score</a:t>
            </a:r>
          </a:p>
          <a:p>
            <a:r>
              <a:t>magnitude, so a runaway-best match is treated the same as a marginal rank-1.</a:t>
            </a:r>
          </a:p>
          <a:p/>
          <a:p>
            <a:r>
              <a:t>WHY DENORMALISE THE ABSTRACT ONTO EVERY RECORD?</a:t>
            </a:r>
          </a:p>
          <a:p>
            <a:r>
              <a:t>So title/abstract keyword filters resolve in one pass instead of a patent-level join.</a:t>
            </a:r>
          </a:p>
          <a:p>
            <a:r>
              <a:t>Costs about 20% index size, removes a round-trip. This is the "make hybrid search help</a:t>
            </a:r>
          </a:p>
          <a:p>
            <a:r>
              <a:t>performance" hint in the brief — trade space for filter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IS THIS THE MOST IMPORTANT SLIDE?</a:t>
            </a:r>
          </a:p>
          <a:p>
            <a:r>
              <a:t>Most submissions will apply the obvious rule and silently corrupt a third of the corpus</a:t>
            </a:r>
          </a:p>
          <a:p>
            <a:r>
              <a:t>without ever noticing. The differentiator is not the fix — it is having measured the</a:t>
            </a:r>
          </a:p>
          <a:p>
            <a:r>
              <a:t>problem before writing the parser.</a:t>
            </a:r>
          </a:p>
          <a:p/>
          <a:p>
            <a:r>
              <a:t>HOW DID YOU VERIFY IT WITHOUT GROUND TRUTH?</a:t>
            </a:r>
          </a:p>
          <a:p>
            <a:r>
              <a:t>An invariant rather than examples. Every raw entry index must be consumed exactly once</a:t>
            </a:r>
          </a:p>
          <a:p>
            <a:r>
              <a:t>across all reconstructed claims. 10,578 in, 10,578 out, zero gaps. That property holds</a:t>
            </a:r>
          </a:p>
          <a:p>
            <a:r>
              <a:t>regardless of what the data looks like next week, which example-based tests cannot</a:t>
            </a:r>
          </a:p>
          <a:p>
            <a:r>
              <a:t>promise.</a:t>
            </a:r>
          </a:p>
          <a:p/>
          <a:p>
            <a:r>
              <a:t>ISN'T THE PARSER OVERFITTED TO THIS DATASET?</a:t>
            </a:r>
          </a:p>
          <a:p>
            <a:r>
              <a:t>It was, initially — the cancellation-marker regex enumerated the five shapes found in</a:t>
            </a:r>
          </a:p>
          <a:p>
            <a:r>
              <a:t>this corpus. That was rewritten to be separator-agnostic. Tests now cover formats that</a:t>
            </a:r>
          </a:p>
          <a:p>
            <a:r>
              <a:t>appear NOWHERE in this sample: "1)" numbering, em-dash ranges, comma separators,</a:t>
            </a:r>
          </a:p>
          <a:p>
            <a:r>
              <a:t>uppercase CANCELED, 120-claim patents, all-fragment input. Generalising it also earned</a:t>
            </a:r>
          </a:p>
          <a:p>
            <a:r>
              <a:t>its keep — 14 entries used "N)" format and became correctly-numbered instead of inferred.</a:t>
            </a:r>
          </a:p>
          <a:p/>
          <a:p>
            <a:r>
              <a:t>WHAT ARE THE REMAINING LIMITS?</a:t>
            </a:r>
          </a:p>
          <a:p>
            <a:r>
              <a:t>Some source claims are truncated upstream ("wherein SA", "a land ratio La") — subscripts</a:t>
            </a:r>
          </a:p>
          <a:p>
            <a:r>
              <a:t>and formulae were lost in the original XML parse. Merged text there reads oddly, but that</a:t>
            </a:r>
          </a:p>
          <a:p>
            <a:r>
              <a:t>is inherited damage, not a reconstruction error. It is flagged via status, not repaired,</a:t>
            </a:r>
          </a:p>
          <a:p>
            <a:r>
              <a:t>because inventing text in a legal document is worse than showing it damaged.</a:t>
            </a:r>
          </a:p>
          <a:p/>
          <a:p>
            <a:r>
              <a:t>WHY CAN'T YOU PARSE THE FULL CLASSIFICATION HIERARCHY?</a:t>
            </a:r>
          </a:p>
          <a:p>
            <a:r>
              <a:t>Codes are packed: B60B1110FI. Section (B), class (B60) and subclass (B60B) parse cleanly</a:t>
            </a:r>
          </a:p>
          <a:p>
            <a:r>
              <a:t>from the first four characters. Group/subgroup does NOT — B60B1110FI could be 11/10 or</a:t>
            </a:r>
          </a:p>
          <a:p>
            <a:r>
              <a:t>1/110, and there is no delimiter. So we deliberately stop at subclass and use prefix</a:t>
            </a:r>
          </a:p>
          <a:p>
            <a:r>
              <a:t>matching, which is unambiguous and is all the task requires. Guessing would produce</a:t>
            </a:r>
          </a:p>
          <a:p>
            <a:r>
              <a:t>filters that silently return the wrong patents.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 THE METRICS MEAN?</a:t>
            </a:r>
          </a:p>
          <a:p>
            <a:r>
              <a:t>- success@k — fraction of queries with at least one relevant hit in the top k. "Did the</a:t>
            </a:r>
          </a:p>
          <a:p>
            <a:r>
              <a:t>  search find anything useful?" Not capped by how many relevant docs exist, so it reads</a:t>
            </a:r>
          </a:p>
          <a:p>
            <a:r>
              <a:t>  on its own — but it saturates at 1.000 on a narrow corpus, which happened here.</a:t>
            </a:r>
          </a:p>
          <a:p>
            <a:r>
              <a:t>- recall@k — share of ALL relevant documents retrieved. MUST be read against its ceiling:</a:t>
            </a:r>
          </a:p>
          <a:p>
            <a:r>
              <a:t>  with 24 relevant documents, recall@10 cannot exceed 10/24 = 0.42. It is not scored</a:t>
            </a:r>
          </a:p>
          <a:p>
            <a:r>
              <a:t>  against 1.0. Every report records recall_ceiling@k beside it.</a:t>
            </a:r>
          </a:p>
          <a:p>
            <a:r>
              <a:t>- recall@50 is the metric for a FIRST-STAGE retriever: a reranker can reorder what was</a:t>
            </a:r>
          </a:p>
          <a:p>
            <a:r>
              <a:t>  found but can never recover a claim that was never retrieved.</a:t>
            </a:r>
          </a:p>
          <a:p>
            <a:r>
              <a:t>- precision@k — share of the top k that is relevant. The attorney's-time metric.</a:t>
            </a:r>
          </a:p>
          <a:p>
            <a:r>
              <a:t>- MRR@k — reciprocal rank of the first relevant hit. How fast you see something useful.</a:t>
            </a:r>
          </a:p>
          <a:p>
            <a:r>
              <a:t>- nDCG@k — the only one using the graded 0-3 scale, discounted by position. Perfect</a:t>
            </a:r>
          </a:p>
          <a:p>
            <a:r>
              <a:t>  ordering = 1.0. THE headline for a reranker, because reranking changes order without</a:t>
            </a:r>
          </a:p>
          <a:p>
            <a:r>
              <a:t>  changing membership.</a:t>
            </a:r>
          </a:p>
          <a:p>
            <a:r>
              <a:t>- p-value — paired bootstrap, 10,000 resamples. Both systems run the same queries so</a:t>
            </a:r>
          </a:p>
          <a:p>
            <a:r>
              <a:t>  scores are paired. Below 0.05 conventionally means unlikely to be chance.</a:t>
            </a:r>
          </a:p>
          <a:p>
            <a:r>
              <a:t>  Distribution-free, because IR metrics are bounded and skewed, not normal.</a:t>
            </a:r>
          </a:p>
          <a:p/>
          <a:p>
            <a:r>
              <a:t>ARE THESE NUMBERS GOOD? WHAT WOULD YOU NOT CLAIM?</a:t>
            </a:r>
          </a:p>
          <a:p>
            <a:r>
              <a:t>The COMPARISON is trustworthy: hybrid beats BM25 on recall@50 by 52% at p=0.0001, on</a:t>
            </a:r>
          </a:p>
          <a:p>
            <a:r>
              <a:t>identical qrels, so pooling bias affects both equally.</a:t>
            </a:r>
          </a:p>
          <a:p>
            <a:r>
              <a:t>The ABSOLUTE values are flattering, and I would say so before a reviewer finds it:</a:t>
            </a:r>
          </a:p>
          <a:p>
            <a:r>
              <a:t> (1) the pool was built from these systems' own output, so almost every judged-relevant</a:t>
            </a:r>
          </a:p>
          <a:p>
            <a:r>
              <a:t>     document was retrieved by something — standard TREC pooling bias;</a:t>
            </a:r>
          </a:p>
          <a:p>
            <a:r>
              <a:t> (2) the assessor is an LLM and graded generously (1390 grade-1, 1272 grade-2, 604</a:t>
            </a:r>
          </a:p>
          <a:p>
            <a:r>
              <a:t>     grade-3);</a:t>
            </a:r>
          </a:p>
          <a:p>
            <a:r>
              <a:t> (3) in a 640-patent corpus that is entirely wheels and tyres, almost anything is</a:t>
            </a:r>
          </a:p>
          <a:p>
            <a:r>
              <a:t>     somewhat related — which is why success@10 hit 1.000 for all three and stopped</a:t>
            </a:r>
          </a:p>
          <a:p>
            <a:r>
              <a:t>     discriminating.</a:t>
            </a:r>
          </a:p>
          <a:p>
            <a:r>
              <a:t>I would quote nDCG@10 and the p-values. I would NOT quote P@5 = 1.000 as evidence.</a:t>
            </a:r>
          </a:p>
          <a:p/>
          <a:p>
            <a:r>
              <a:t>WHY LEARNING-TO-RANK RATHER THAN FINE-TUNING A CROSS-ENCODER?</a:t>
            </a:r>
          </a:p>
          <a:p>
            <a:r>
              <a:t>Trains in seconds on CPU, scores in microseconds instead of ~90 ms, needs no model</a:t>
            </a:r>
          </a:p>
          <a:p>
            <a:r>
              <a:t>download, and is what production search actually does — OpenSearch ships an LTR plugin</a:t>
            </a:r>
          </a:p>
          <a:p>
            <a:r>
              <a:t>for exactly this. The trade: it only sees the features (ranks, scores, retriever</a:t>
            </a:r>
          </a:p>
          <a:p>
            <a:r>
              <a:t>agreement, record type, overlap), never the candidate text.</a:t>
            </a:r>
          </a:p>
          <a:p>
            <a:r>
              <a:t>Split is BY PATENT, not by row — records from one patent share vocabulary, so a row-level</a:t>
            </a:r>
          </a:p>
          <a:p>
            <a:r>
              <a:t>split leaks the answer. Top features: vector reciprocal rank 0.285, fused score 0.243,</a:t>
            </a:r>
          </a:p>
          <a:p>
            <a:r>
              <a:t>BM25 reciprocal rank 0.136 — the model largely learned how much to trust the semantic</a:t>
            </a:r>
          </a:p>
          <a:p>
            <a:r>
              <a:t>ranking relative to the lexical one.</a:t>
            </a:r>
          </a:p>
          <a:p/>
          <a:p>
            <a:r>
              <a:t>WHAT IS TREC POOLING?</a:t>
            </a:r>
          </a:p>
          <a:p>
            <a:r>
              <a:t>Run every system, take the top-15 each, union and dedupe (~26 candidates per query),</a:t>
            </a:r>
          </a:p>
          <a:p>
            <a:r>
              <a:t>judge each 0-3 against an examiner rubric, treat anything unjudged as non-relevant. The</a:t>
            </a:r>
          </a:p>
          <a:p>
            <a:r>
              <a:t>standard method since 1992. 2,095 judgements, 235 API calls, cached on disk so re-running</a:t>
            </a:r>
          </a:p>
          <a:p>
            <a:r>
              <a:t>is free and human labels can replace the LLM's wholesale.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DID YOU GET THESE COST NUMBERS?</a:t>
            </a:r>
          </a:p>
          <a:p>
            <a:r>
              <a:t>Extrapolated from measurements on the 640-patent sample, not guessed. Measured basis:</a:t>
            </a:r>
          </a:p>
          <a:p>
            <a:r>
              <a:t>29.3 records per patent, 24K characters per patent, ~6,900 embedding tokens per patent,</a:t>
            </a:r>
          </a:p>
          <a:p>
            <a:r>
              <a:t>2.5s record build, 2.2s bulk index. Scaled to 10^7 patents: 293M records, ~240 GB raw</a:t>
            </a:r>
          </a:p>
          <a:p>
            <a:r>
              <a:t>text, ~69B embedding tokens. At $0.02/1M tokens that is ~$1,400 for a full hosted</a:t>
            </a:r>
          </a:p>
          <a:p>
            <a:r>
              <a:t>backfill; self-hosting MiniLM on 8x g5.xlarge for ~40h is ~$350, so self-host the</a:t>
            </a:r>
          </a:p>
          <a:p>
            <a:r>
              <a:t>backfill and use the hosted API for the weekly delta where operational simplicity wins.</a:t>
            </a:r>
          </a:p>
          <a:p/>
          <a:p>
            <a:r>
              <a:t>WHAT BREAKS FIRST AT SCALE?</a:t>
            </a:r>
          </a:p>
          <a:p>
            <a:r>
              <a:t>Vector index memory. 293M x 1536 dims x 4 bytes = 1.8 TB of float32, and HNSW wants it</a:t>
            </a:r>
          </a:p>
          <a:p>
            <a:r>
              <a:t>resident. That is the binding constraint, not CPU. Three levers in order of value:</a:t>
            </a:r>
          </a:p>
          <a:p>
            <a:r>
              <a:t>dimension reduction (Matryoshka to 512d, already wired as --dimensions), int8</a:t>
            </a:r>
          </a:p>
          <a:p>
            <a:r>
              <a:t>quantisation (4x), and not embedding description passages at all (38% of records, least</a:t>
            </a:r>
          </a:p>
          <a:p>
            <a:r>
              <a:t>queried). All three together bring the cluster from ~$2,600/mo to ~$700/mo.</a:t>
            </a:r>
          </a:p>
          <a:p/>
          <a:p>
            <a:r>
              <a:t>WHAT ELSE IS HARD AT SCALE?</a:t>
            </a:r>
          </a:p>
          <a:p>
            <a:r>
              <a:t>- Reindexing on model change: swapping embedding models invalidates 293M vectors. Version</a:t>
            </a:r>
          </a:p>
          <a:p>
            <a:r>
              <a:t>  the index, build the new one alongside, alias-swap. Never reindex in place.</a:t>
            </a:r>
          </a:p>
          <a:p>
            <a:r>
              <a:t>- Claim reconstruction drift: upstream XML format changes silently corrupt claims. The</a:t>
            </a:r>
          </a:p>
          <a:p>
            <a:r>
              <a:t>  invariant test runs per release, and the number_inferred rate is an alarm.</a:t>
            </a:r>
          </a:p>
          <a:p>
            <a:r>
              <a:t>- Filter selectivity: B60B matches 47% here but a narrow CPC code may match 0.001% of</a:t>
            </a:r>
          </a:p>
          <a:p>
            <a:r>
              <a:t>  10M. Pre-filter in traversal, fall back to lexical-only below a cardinality threshold.</a:t>
            </a:r>
          </a:p>
          <a:p>
            <a:r>
              <a:t>- Hot shards: recent filings are queried far more. Time-based index tiering.</a:t>
            </a:r>
          </a:p>
          <a:p/>
          <a:p>
            <a:r>
              <a:t>WHY SQLITE FOR THE PROOF OF CONCEPT?</a:t>
            </a:r>
          </a:p>
          <a:p>
            <a:r>
              <a:t>It is stdlib, needs no daemon or container, and has the same semantics we want from</a:t>
            </a:r>
          </a:p>
          <a:p>
            <a:r>
              <a:t>Postgres — transactional claim via BEGIN IMMEDIATE, unique primary key, atomic status</a:t>
            </a:r>
          </a:p>
          <a:p>
            <a:r>
              <a:t>transitions. Swapping the DSN is the only change needed for production. The POC</a:t>
            </a:r>
          </a:p>
          <a:p>
            <a:r>
              <a:t>demonstrates idempotency, versioned reprocessing, crash recovery via lease expiry, and</a:t>
            </a:r>
          </a:p>
          <a:p>
            <a:r>
              <a:t>retry accounting, all on the real 640-patent corpus.</a:t>
            </a:r>
          </a:p>
          <a:p/>
          <a:p>
            <a:r>
              <a:t>WHAT IS STILL UNPROVEN?</a:t>
            </a:r>
          </a:p>
          <a:p>
            <a:r>
              <a:t>640 patents is a POC. Behaviour at 10M is argued, not measured. build_index.py holds all</a:t>
            </a:r>
          </a:p>
          <a:p>
            <a:r>
              <a:t>embeddings in memory before writing — fine here, won't scale; the queue-driven worker</a:t>
            </a:r>
          </a:p>
          <a:p>
            <a:r>
              <a:t>path is the one that does. The API has no auth or rate limiting, correct for localhost</a:t>
            </a:r>
          </a:p>
          <a:p>
            <a:r>
              <a:t>and wrong for anything 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0"/>
            <a:ext cx="548640" cy="29260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8475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4FD8"/>
                </a:solidFill>
                <a:latin typeface="Consolas"/>
              </a:rPr>
              <a:t>THINKSTRUCT · CODING TASK · ARYAN JAIN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77824"/>
            <a:ext cx="10847527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31A24"/>
                </a:solidFill>
                <a:latin typeface="Georgia"/>
              </a:rPr>
              <a:t>Finding the claim that already covers your invention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31136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1A24"/>
                </a:solidFill>
                <a:latin typeface="Calibri"/>
              </a:rPr>
              <a:t>Prior art rarely uses your vocabulary.</a:t>
            </a:r>
            <a:r>
              <a:rPr sz="1700" b="0">
                <a:solidFill>
                  <a:srgbClr val="35424F"/>
                </a:solidFill>
                <a:latin typeface="Calibri"/>
              </a:rPr>
              <a:t>  A </a:t>
            </a:r>
            <a:r>
              <a:rPr sz="1700" b="1">
                <a:solidFill>
                  <a:srgbClr val="1C4FD8"/>
                </a:solidFill>
                <a:latin typeface="Calibri"/>
              </a:rPr>
              <a:t>carbon fibre spoke</a:t>
            </a:r>
            <a:r>
              <a:rPr sz="1700" b="0">
                <a:solidFill>
                  <a:srgbClr val="35424F"/>
                </a:solidFill>
                <a:latin typeface="Calibri"/>
              </a:rPr>
              <a:t> may be claimed elsewhere as an </a:t>
            </a:r>
            <a:r>
              <a:rPr sz="1700" b="1">
                <a:solidFill>
                  <a:srgbClr val="1C4FD8"/>
                </a:solidFill>
                <a:latin typeface="Calibri"/>
              </a:rPr>
              <a:t>elongate composite tension member</a:t>
            </a:r>
            <a:r>
              <a:rPr sz="1700" b="0">
                <a:solidFill>
                  <a:srgbClr val="35424F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191256"/>
            <a:ext cx="5263743" cy="914400"/>
          </a:xfrm>
          <a:prstGeom prst="rect">
            <a:avLst/>
          </a:prstGeom>
          <a:solidFill>
            <a:srgbClr val="FB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191256"/>
            <a:ext cx="38100" cy="914400"/>
          </a:xfrm>
          <a:prstGeom prst="rect">
            <a:avLst/>
          </a:prstGeom>
          <a:solidFill>
            <a:srgbClr val="A45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300984"/>
            <a:ext cx="49894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Miss the prior art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An invalid patent issues. It surfaces in litigation at $1–3M.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1023" y="3191256"/>
            <a:ext cx="5263743" cy="914400"/>
          </a:xfrm>
          <a:prstGeom prst="rect">
            <a:avLst/>
          </a:prstGeom>
          <a:solidFill>
            <a:srgbClr val="FB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1023" y="3191256"/>
            <a:ext cx="38100" cy="914400"/>
          </a:xfrm>
          <a:prstGeom prst="rect">
            <a:avLst/>
          </a:prstGeom>
          <a:solidFill>
            <a:srgbClr val="A45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3300984"/>
            <a:ext cx="49894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Return noise instead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Attorneys read irrelevant patents at $400–700 an hour.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62856"/>
            <a:ext cx="108475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31A24"/>
                </a:solidFill>
                <a:latin typeface="Calibri"/>
              </a:rPr>
              <a:t>Retrieval operates on claims, never whole patents.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5424F"/>
                </a:solidFill>
                <a:latin typeface="Calibri"/>
              </a:rPr>
              <a:t>Claims are the legal unit — infringement is decided claim by claim. Every result names the record that matched.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72200"/>
            <a:ext cx="1084752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1707F"/>
                </a:solidFill>
                <a:latin typeface="Consolas"/>
              </a:rPr>
              <a:t>640 patents · 18,743 indexed records · 329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6928" cy="29260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4FD8"/>
                </a:solidFill>
                <a:latin typeface="Consolas"/>
              </a:rPr>
              <a:t>HOW A SEARCH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1A24"/>
                </a:solidFill>
                <a:latin typeface="Georgia"/>
              </a:rPr>
              <a:t>Two ways of searching, merged into one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92224"/>
            <a:ext cx="12801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Your query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plain English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01952" y="2057400"/>
            <a:ext cx="292608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49424" y="1792224"/>
            <a:ext cx="1783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Narrow it 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wheels only, etc.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9424" y="1792224"/>
            <a:ext cx="50292" cy="65836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15384" y="1554480"/>
            <a:ext cx="19050" cy="1133856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32504" y="2111883"/>
            <a:ext cx="201168" cy="1905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15384" y="1544955"/>
            <a:ext cx="54864" cy="1905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251960" y="1490472"/>
            <a:ext cx="182880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384" y="2678811"/>
            <a:ext cx="54864" cy="1905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251960" y="2624328"/>
            <a:ext cx="182880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53128" y="1298448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Keyword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exact wording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53128" y="2432304"/>
            <a:ext cx="21031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Meaning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different wording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75704" y="1554480"/>
            <a:ext cx="19050" cy="1133856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56248" y="1544955"/>
            <a:ext cx="219456" cy="1905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56248" y="2678811"/>
            <a:ext cx="219456" cy="1905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6775704" y="2057400"/>
            <a:ext cx="329184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59752" y="1792224"/>
            <a:ext cx="1325880" cy="658368"/>
          </a:xfrm>
          <a:prstGeom prst="rect">
            <a:avLst/>
          </a:prstGeom>
          <a:solidFill>
            <a:srgbClr val="E6ECFD"/>
          </a:solidFill>
          <a:ln w="9525">
            <a:solidFill>
              <a:srgbClr val="1C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Merge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both lists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540496" y="2057400"/>
            <a:ext cx="292608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1792224"/>
            <a:ext cx="1280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Re-rank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top 50 only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222992" y="2057400"/>
            <a:ext cx="292608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70464" y="1792224"/>
            <a:ext cx="1234440" cy="658368"/>
          </a:xfrm>
          <a:prstGeom prst="rect">
            <a:avLst/>
          </a:prstGeom>
          <a:solidFill>
            <a:srgbClr val="E3F2E9"/>
          </a:solidFill>
          <a:ln w="9525">
            <a:solidFill>
              <a:srgbClr val="156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Results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by patent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236976"/>
            <a:ext cx="5368899" cy="914400"/>
          </a:xfrm>
          <a:prstGeom prst="rect">
            <a:avLst/>
          </a:prstGeom>
          <a:solidFill>
            <a:srgbClr val="E6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236976"/>
            <a:ext cx="38100" cy="91440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346704"/>
            <a:ext cx="50945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Why search twice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Keyword search finds the exact words. Meaning search finds the same idea worded differently. Patents need both.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5867" y="3236976"/>
            <a:ext cx="5368899" cy="914400"/>
          </a:xfrm>
          <a:prstGeom prst="rect">
            <a:avLst/>
          </a:prstGeom>
          <a:solidFill>
            <a:srgbClr val="E6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55867" y="3236976"/>
            <a:ext cx="38100" cy="914400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2171" y="3346704"/>
            <a:ext cx="50945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Why narrow first, not last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Filtering before the search is what keeps it fast at scale — and still returns a full set of candidates.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62856"/>
            <a:ext cx="11057839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818888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31A24"/>
                </a:solidFill>
                <a:latin typeface="Calibri"/>
              </a:rPr>
              <a:t>One engine, OpenSearch, does keyword search, vector search and filtering in a single query.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5424F"/>
                </a:solidFill>
                <a:latin typeface="Calibri"/>
              </a:rPr>
              <a:t>The embedding model and the re-ranker are each chosen by a command-line flag — swapping either changes no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6928" cy="29260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4FD8"/>
                </a:solidFill>
                <a:latin typeface="Consolas"/>
              </a:rPr>
              <a:t>THE HARD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57839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1A24"/>
                </a:solidFill>
                <a:latin typeface="Georgia"/>
              </a:rPr>
              <a:t>The claims field is broken, and the obvious fix corrupts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48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68.9%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of entries begin with a claim number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4314" y="2048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4042" y="2048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88.6%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of patents open with a numberless fragment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1700" y="2048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1428" y="2048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79.7%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have no “1.” entry at 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16936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5424F"/>
                </a:solidFill>
                <a:latin typeface="Calibri"/>
              </a:rPr>
              <a:t>Claim preambles are </a:t>
            </a:r>
            <a:r>
              <a:rPr sz="1500" b="1">
                <a:solidFill>
                  <a:srgbClr val="131A24"/>
                </a:solidFill>
                <a:latin typeface="Calibri"/>
              </a:rPr>
              <a:t>stripped, not split</a:t>
            </a:r>
            <a:r>
              <a:rPr sz="1500" b="0">
                <a:solidFill>
                  <a:srgbClr val="35424F"/>
                </a:solidFill>
                <a:latin typeface="Calibri"/>
              </a:rPr>
              <a:t> — the text is gone, not moved.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19856"/>
            <a:ext cx="11057839" cy="8412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29584"/>
            <a:ext cx="1078351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1707F"/>
                </a:solidFill>
                <a:latin typeface="Consolas"/>
              </a:rPr>
              <a:t>The obvious fix: append each numberless fragment to the previous claim.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35424F"/>
                </a:solidFill>
                <a:latin typeface="Consolas"/>
              </a:rPr>
              <a:t>  prev: '1 - 5 . (canceled)'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35424F"/>
                </a:solidFill>
                <a:latin typeface="Consolas"/>
              </a:rPr>
              <a:t>  FRAG: 'a tread portion extending in a tire circumferential...'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A4530B"/>
                </a:solidFill>
                <a:latin typeface="Consolas"/>
              </a:rPr>
              <a:t>                                          ^^ a new claim 6, not a continuation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443984"/>
            <a:ext cx="53688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31A24"/>
                </a:solidFill>
                <a:latin typeface="Calibri"/>
              </a:rPr>
              <a:t>Segment first, number second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A fragment starts a new claim if it is first, or if the previous entry ended on a full stop. Numbers resolve afterwards.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5867" y="4443984"/>
            <a:ext cx="5368899" cy="914400"/>
          </a:xfrm>
          <a:prstGeom prst="rect">
            <a:avLst/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5867" y="4443984"/>
            <a:ext cx="38100" cy="914400"/>
          </a:xfrm>
          <a:prstGeom prst="rect">
            <a:avLst/>
          </a:prstGeom>
          <a:solidFill>
            <a:srgbClr val="156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2171" y="4553712"/>
            <a:ext cx="50945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How we know it is right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All 10,578 source entries are consumed exactly once. Zero dropped, zero duplicated.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6928" cy="29260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4FD8"/>
                </a:solidFill>
                <a:latin typeface="Consolas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1A24"/>
                </a:solidFill>
                <a:latin typeface="Georgia"/>
              </a:rPr>
              <a:t>The benchmark lied twice before it told the truth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54480"/>
          <a:ext cx="11057837" cy="1097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42313"/>
                <a:gridCol w="4644292"/>
                <a:gridCol w="1326940"/>
                <a:gridCol w="4644292"/>
              </a:tblGrid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#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TEST COLLECTION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OVERLAP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CONCLUSION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Patent's own abstract as query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55.4%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BM25 wins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Queries paraphrased by an LLM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36.9%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Hybrid ahead, not significant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alibri"/>
                        </a:rPr>
                        <a:t>TREC pooling + graded assessor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Hybrid wins, p = 0.0003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76148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1A24"/>
                </a:solidFill>
                <a:latin typeface="Calibri"/>
              </a:rPr>
              <a:t>The flaw: </a:t>
            </a:r>
            <a:r>
              <a:rPr sz="1400" b="0">
                <a:solidFill>
                  <a:srgbClr val="35424F"/>
                </a:solidFill>
                <a:latin typeface="Calibri"/>
              </a:rPr>
              <a:t>the answer key marked only the query's own patent as relevant — so five correct flexible-spoke patents scored as four errors.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328416"/>
          <a:ext cx="11057835" cy="1097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44265"/>
                <a:gridCol w="1682714"/>
                <a:gridCol w="1682714"/>
                <a:gridCol w="1682714"/>
                <a:gridCol w="1442326"/>
                <a:gridCol w="1923102"/>
              </a:tblGrid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SYSTEM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RECALL@10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RECALL@50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NDCG@10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P@5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61707F"/>
                          </a:solidFill>
                          <a:latin typeface="Consolas"/>
                        </a:rPr>
                        <a:t>P50 LATENCY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0.205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0.405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0.527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0.858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4.4 ms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0.253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0.463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0.584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0.930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5424F"/>
                          </a:solidFill>
                          <a:latin typeface="Consolas"/>
                        </a:rPr>
                        <a:t>310 ms</a:t>
                      </a:r>
                    </a:p>
                  </a:txBody>
                  <a:tcPr marL="64008" marR="6400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0.223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0.616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0.590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0.885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31A24"/>
                          </a:solidFill>
                          <a:latin typeface="Consolas"/>
                        </a:rPr>
                        <a:t>322 ms</a:t>
                      </a:r>
                    </a:p>
                  </a:txBody>
                  <a:tcPr marL="64008" marR="64008" anchor="ctr">
                    <a:solidFill>
                      <a:srgbClr val="E6ECF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535424"/>
            <a:ext cx="5391759" cy="8229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645152"/>
            <a:ext cx="51174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1707F"/>
                </a:solidFill>
                <a:latin typeface="Consolas"/>
              </a:rPr>
              <a:t>paired bootstrap, n=80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5683C"/>
                </a:solidFill>
                <a:latin typeface="Consolas"/>
              </a:rPr>
              <a:t>recall@50  +0.2109  p=0.0001 *   +52%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5683C"/>
                </a:solidFill>
                <a:latin typeface="Consolas"/>
              </a:rPr>
              <a:t>ndcg@10    +0.0627  p=0.0003 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4535424"/>
            <a:ext cx="5391759" cy="822960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9311" y="4645152"/>
            <a:ext cx="51174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1707F"/>
                </a:solidFill>
                <a:latin typeface="Consolas"/>
              </a:rPr>
              <a:t>+ trained reranker, 22 held-out queries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5683C"/>
                </a:solidFill>
                <a:latin typeface="Consolas"/>
              </a:rPr>
              <a:t>ndcg@10    0.633 -&gt; 0.753   p=0.0001 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A4530B"/>
                </a:solidFill>
                <a:latin typeface="Consolas"/>
              </a:rPr>
              <a:t>recall@50  0.616 -&gt; 0.616   p=1.0000  &lt;- correct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486400"/>
            <a:ext cx="38100" cy="566928"/>
          </a:xfrm>
          <a:prstGeom prst="rect">
            <a:avLst/>
          </a:prstGeom>
          <a:solidFill>
            <a:srgbClr val="156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596128"/>
            <a:ext cx="107835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Calibri"/>
              </a:rPr>
              <a:t>That last line is a correctness proof, not a null result: a reranker reorders the candidates it was given and cannot change which documents retrieval found. Separately — of dense search's 320 ms, 315 ms is the hosted embedding API and only 5.9 ms is OpenSearch.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6928" cy="292608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C4FD8"/>
                </a:solidFill>
                <a:latin typeface="Consolas"/>
              </a:rPr>
              <a:t>PART 2 · IMPLEMENTATION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1A24"/>
                </a:solidFill>
                <a:latin typeface="Georgia"/>
              </a:rPr>
              <a:t>From 640 patents to 10 million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1975104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New filings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every week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78608" y="1865376"/>
            <a:ext cx="237744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52928" y="1600200"/>
            <a:ext cx="1975104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Keep the raw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never re-fetch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4608" y="1865376"/>
            <a:ext cx="237744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38928" y="1600200"/>
            <a:ext cx="1975104" cy="658368"/>
          </a:xfrm>
          <a:prstGeom prst="rect">
            <a:avLst/>
          </a:prstGeom>
          <a:solidFill>
            <a:srgbClr val="E6ECFD"/>
          </a:solidFill>
          <a:ln w="9525">
            <a:solidFill>
              <a:srgbClr val="1C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One job per patent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a work queue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50608" y="1865376"/>
            <a:ext cx="237744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4928" y="1600200"/>
            <a:ext cx="1975104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Workers process 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parse, embed, index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36608" y="1865376"/>
            <a:ext cx="237744" cy="128016"/>
          </a:xfrm>
          <a:prstGeom prst="rightArrow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10928" y="1600200"/>
            <a:ext cx="1975104" cy="658368"/>
          </a:xfrm>
          <a:prstGeom prst="rect">
            <a:avLst/>
          </a:prstGeom>
          <a:solidFill>
            <a:srgbClr val="E3F2E9"/>
          </a:solidFill>
          <a:ln w="9525">
            <a:solidFill>
              <a:srgbClr val="156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A24"/>
                </a:solidFill>
                <a:latin typeface="Calibri"/>
              </a:rPr>
              <a:t>Search index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ready to query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412480" y="2258568"/>
            <a:ext cx="128016" cy="237744"/>
          </a:xfrm>
          <a:prstGeom prst="downArrow">
            <a:avLst/>
          </a:prstGeom>
          <a:solidFill>
            <a:srgbClr val="A45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33488" y="2551176"/>
            <a:ext cx="2157984" cy="457200"/>
          </a:xfrm>
          <a:prstGeom prst="rect">
            <a:avLst/>
          </a:prstGeom>
          <a:solidFill>
            <a:srgbClr val="FBF0E2"/>
          </a:solidFill>
          <a:ln w="9525">
            <a:solidFill>
              <a:srgbClr val="A453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1A24"/>
                </a:solidFill>
                <a:latin typeface="Calibri"/>
              </a:rPr>
              <a:t>Every patent's progress is tracked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1707F"/>
                </a:solidFill>
                <a:latin typeface="Consolas"/>
              </a:rPr>
              <a:t>so nothing is lost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191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91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293M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searchable records at 10M patents (29.3 per patent, measured)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4314" y="3191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4042" y="3191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~$1.4k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one-time embedding backfill · ~$350 self-hosted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1700" y="3191256"/>
            <a:ext cx="31750" cy="786384"/>
          </a:xfrm>
          <a:prstGeom prst="rect">
            <a:avLst/>
          </a:prstGeom>
          <a:solidFill>
            <a:srgbClr val="1C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1428" y="3191256"/>
            <a:ext cx="339333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31A24"/>
                </a:solidFill>
                <a:latin typeface="Consolas"/>
              </a:rPr>
              <a:t>~$2.6k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1707F"/>
                </a:solidFill>
                <a:latin typeface="Calibri"/>
              </a:rPr>
              <a:t>per month steady state · ~$700 optimised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105656"/>
            <a:ext cx="53688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31A24"/>
                </a:solidFill>
                <a:latin typeface="Calibri"/>
              </a:rPr>
              <a:t>Vector storage is the binding constraint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1.8 TB of vectors, and the index wants it in memory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Halve the dimensions -&gt; 600 GB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Compress to int8 -&gt; 150 GB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Skip description passages -&gt; a further 38% 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4105656"/>
            <a:ext cx="53688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131A24"/>
                </a:solidFill>
                <a:latin typeface="Calibri"/>
              </a:rPr>
              <a:t>Ingestion, proven on all 640 patents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Re-running ingests nothing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Version bump re-queues everything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A dead worker's jobs come back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5424F"/>
                </a:solidFill>
                <a:latin typeface="Calibri"/>
              </a:rPr>
              <a:t>— Failures record the error and retry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