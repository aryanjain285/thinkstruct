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HANDLE MISSING FIELDS?</a:t>
            </a:r>
          </a:p>
          <a:p>
            <a:r>
              <a:t>Measured: no field is ever absent, and none is ever empty — except descriptions. 119</a:t>
            </a:r>
          </a:p>
          <a:p>
            <a:r>
              <a:t>patents (18.6%) have descriptions that are present but entirely blank paragraphs. Those</a:t>
            </a:r>
          </a:p>
          <a:p>
            <a:r>
              <a:t>are KEPT and FLAGGED, never excluded: validation grades them 'warning', not 'error',</a:t>
            </a:r>
          </a:p>
          <a:p>
            <a:r>
              <a:t>because they stay fully searchable via claims and abstract. Excluding them would discard</a:t>
            </a:r>
          </a:p>
          <a:p>
            <a:r>
              <a:t>18.6% of the corpus for no gain. Nothing in this dataset is dropped.</a:t>
            </a:r>
          </a:p>
          <a:p/>
          <a:p>
            <a:r>
              <a:t>WHY CLAIM-LEVEL AND NOT PATENT-LEVEL?</a:t>
            </a:r>
          </a:p>
          <a:p>
            <a:r>
              <a:t>Three reasons. (1) Claims are the legal unit — infringement and novelty are determined</a:t>
            </a:r>
          </a:p>
          <a:p>
            <a:r>
              <a:t>claim by claim, so "patent X is relevant" is not an actionable answer. (2) Precision — a</a:t>
            </a:r>
          </a:p>
          <a:p>
            <a:r>
              <a:t>46-claim patent indexed as one document matches nearly any query in its field. (3)</a:t>
            </a:r>
          </a:p>
          <a:p>
            <a:r>
              <a:t>Evidence — every result names the record that matched, so it can be verified.</a:t>
            </a:r>
          </a:p>
          <a:p>
            <a:r>
              <a:t>Results are regrouped by patent for display, scored max(record) + 0.3*mean(next 3), so a</a:t>
            </a:r>
          </a:p>
          <a:p>
            <a:r>
              <a:t>patent matching on several claims outranks one matching by fluke on a single passage.</a:t>
            </a:r>
          </a:p>
          <a:p/>
          <a:p>
            <a:r>
              <a:t>WHY NOT JUST USE AN LLM OVER THE WHOLE CORPUS?</a:t>
            </a:r>
          </a:p>
          <a:p>
            <a:r>
              <a:t>15.4M characters is ~3.8M tokens per query. At scale that is 10M patents. Retrieval</a:t>
            </a:r>
          </a:p>
          <a:p>
            <a:r>
              <a:t>narrows to 50 candidates first; the LLM only ever sees those.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OPENSEARCH? WHAT WERE THE ALTERNATIVES?</a:t>
            </a:r>
          </a:p>
          <a:p>
            <a:r>
              <a:t>The requirement is lexical scoring, vector similarity AND metadata filtering resolved in</a:t>
            </a:r>
          </a:p>
          <a:p>
            <a:r>
              <a:t>a single query with shared pre-filters. OpenSearch does all three natively. Splitting</a:t>
            </a:r>
          </a:p>
          <a:p>
            <a:r>
              <a:t>across a keyword store and a vector DB means two round-trips, two filter implementations</a:t>
            </a:r>
          </a:p>
          <a:p>
            <a:r>
              <a:t>that can disagree, and client-side merging.</a:t>
            </a:r>
          </a:p>
          <a:p/>
          <a:p>
            <a:r>
              <a:t>- Elasticsearch: near-identical capability. OpenSearch is the Apache-2.0 fork, so no</a:t>
            </a:r>
          </a:p>
          <a:p>
            <a:r>
              <a:t>  licence question.</a:t>
            </a:r>
          </a:p>
          <a:p>
            <a:r>
              <a:t>- Postgres + pgvector: excellent if you already run Postgres, but BM25 is bolted on via</a:t>
            </a:r>
          </a:p>
          <a:p>
            <a:r>
              <a:t>  tsvector and weaker on long technical text.</a:t>
            </a:r>
          </a:p>
          <a:p>
            <a:r>
              <a:t>- Pinecone / Weaviate / Qdrant: better pure-vector ergonomics, but you still need a</a:t>
            </a:r>
          </a:p>
          <a:p>
            <a:r>
              <a:t>  lexical engine beside them — and BM25 proved a STRONG baseline here, so dropping it</a:t>
            </a:r>
          </a:p>
          <a:p>
            <a:r>
              <a:t>  would have hurt.</a:t>
            </a:r>
          </a:p>
          <a:p>
            <a:r>
              <a:t>- Vespa: arguably the best technical fit for hybrid ranking, but far heavier to operate</a:t>
            </a:r>
          </a:p>
          <a:p>
            <a:r>
              <a:t>  for a proof of concept.</a:t>
            </a:r>
          </a:p>
          <a:p>
            <a:r>
              <a:t>- FAISS: a library, not a search engine. No filters, no persistence, no lexical side.</a:t>
            </a:r>
          </a:p>
          <a:p/>
          <a:p>
            <a:r>
              <a:t>The k-NN mapping uses the LUCENE engine specifically because it supports filtering DURING</a:t>
            </a:r>
          </a:p>
          <a:p>
            <a:r>
              <a:t>graph traversal. Every query here carries metadata constraints, so that is not a detail.</a:t>
            </a:r>
          </a:p>
          <a:p/>
          <a:p>
            <a:r>
              <a:t>WHY RRF RATHER THAN WEIGHTED SCORE COMBINATION?</a:t>
            </a:r>
          </a:p>
          <a:p>
            <a:r>
              <a:t>BM25 scores are unbounded and land in the tens; cosine similarity is bounded 0-1. Adding</a:t>
            </a:r>
          </a:p>
          <a:p>
            <a:r>
              <a:t>them requires normalisation that drifts as the corpus changes. RRF uses only rank</a:t>
            </a:r>
          </a:p>
          <a:p>
            <a:r>
              <a:t>position, so it is scale-free and has no weight to tune. The trade-off: it discards score</a:t>
            </a:r>
          </a:p>
          <a:p>
            <a:r>
              <a:t>magnitude, so a runaway-best match is treated the same as a marginal rank-1.</a:t>
            </a:r>
          </a:p>
          <a:p/>
          <a:p>
            <a:r>
              <a:t>WHY DENORMALISE THE ABSTRACT ONTO EVERY RECORD?</a:t>
            </a:r>
          </a:p>
          <a:p>
            <a:r>
              <a:t>So title/abstract keyword filters resolve in one pass instead of a patent-level join.</a:t>
            </a:r>
          </a:p>
          <a:p>
            <a:r>
              <a:t>Costs about 20% index size, removes a round-trip. This is the "make hybrid search help</a:t>
            </a:r>
          </a:p>
          <a:p>
            <a:r>
              <a:t>performance" hint in the brief — trade space for filter latency.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THE MOST IMPORTANT SLIDE?</a:t>
            </a:r>
          </a:p>
          <a:p>
            <a:r>
              <a:t>Most submissions will apply the obvious rule and silently corrupt a third of the corpus</a:t>
            </a:r>
          </a:p>
          <a:p>
            <a:r>
              <a:t>without ever noticing. The differentiator is not the fix — it is having measured the</a:t>
            </a:r>
          </a:p>
          <a:p>
            <a:r>
              <a:t>problem before writing the parser.</a:t>
            </a:r>
          </a:p>
          <a:p/>
          <a:p>
            <a:r>
              <a:t>HOW DID YOU VERIFY IT WITHOUT GROUND TRUTH?</a:t>
            </a:r>
          </a:p>
          <a:p>
            <a:r>
              <a:t>An invariant rather than examples. Every raw entry index must be consumed exactly once</a:t>
            </a:r>
          </a:p>
          <a:p>
            <a:r>
              <a:t>across all reconstructed claims. 10,578 in, 10,578 out, zero gaps. That property holds</a:t>
            </a:r>
          </a:p>
          <a:p>
            <a:r>
              <a:t>regardless of what the data looks like next week, which example-based tests cannot</a:t>
            </a:r>
          </a:p>
          <a:p>
            <a:r>
              <a:t>promise.</a:t>
            </a:r>
          </a:p>
          <a:p/>
          <a:p>
            <a:r>
              <a:t>ISN'T THE PARSER OVERFITTED TO THIS DATASET?</a:t>
            </a:r>
          </a:p>
          <a:p>
            <a:r>
              <a:t>It was, initially — the cancellation-marker regex enumerated the five shapes found in</a:t>
            </a:r>
          </a:p>
          <a:p>
            <a:r>
              <a:t>this corpus. That was rewritten to be separator-agnostic. Tests now cover formats that</a:t>
            </a:r>
          </a:p>
          <a:p>
            <a:r>
              <a:t>appear NOWHERE in this sample: "1)" numbering, em-dash ranges, comma separators,</a:t>
            </a:r>
          </a:p>
          <a:p>
            <a:r>
              <a:t>uppercase CANCELED, 120-claim patents, all-fragment input. Generalising it also earned</a:t>
            </a:r>
          </a:p>
          <a:p>
            <a:r>
              <a:t>its keep — 14 entries used "N)" format and became correctly-numbered instead of inferred.</a:t>
            </a:r>
          </a:p>
          <a:p/>
          <a:p>
            <a:r>
              <a:t>WHAT ARE THE REMAINING LIMITS?</a:t>
            </a:r>
          </a:p>
          <a:p>
            <a:r>
              <a:t>Some source claims are truncated upstream ("wherein SA", "a land ratio La") — subscripts</a:t>
            </a:r>
          </a:p>
          <a:p>
            <a:r>
              <a:t>and formulae were lost in the original XML parse. Merged text there reads oddly, but that</a:t>
            </a:r>
          </a:p>
          <a:p>
            <a:r>
              <a:t>is inherited damage, not a reconstruction error. It is flagged via status, not repaired,</a:t>
            </a:r>
          </a:p>
          <a:p>
            <a:r>
              <a:t>because inventing text in a legal document is worse than showing it damaged.</a:t>
            </a:r>
          </a:p>
          <a:p/>
          <a:p>
            <a:r>
              <a:t>WHY CAN'T YOU PARSE THE FULL CLASSIFICATION HIERARCHY?</a:t>
            </a:r>
          </a:p>
          <a:p>
            <a:r>
              <a:t>Codes are packed: B60B1110FI. Section (B), class (B60) and subclass (B60B) parse cleanly</a:t>
            </a:r>
          </a:p>
          <a:p>
            <a:r>
              <a:t>from the first four characters. Group/subgroup does NOT — B60B1110FI could be 11/10 or</a:t>
            </a:r>
          </a:p>
          <a:p>
            <a:r>
              <a:t>1/110, and there is no delimiter. So we deliberately stop at subclass and use prefix</a:t>
            </a:r>
          </a:p>
          <a:p>
            <a:r>
              <a:t>matching, which is unambiguous and is all the task requires. Guessing would produce</a:t>
            </a:r>
          </a:p>
          <a:p>
            <a:r>
              <a:t>filters that silently return the wrong patents.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THE METRICS MEAN?</a:t>
            </a:r>
          </a:p>
          <a:p>
            <a:r>
              <a:t>- success@k — fraction of queries with at least one relevant hit in the top k. "Did the</a:t>
            </a:r>
          </a:p>
          <a:p>
            <a:r>
              <a:t>  search find anything useful?" Not capped by how many relevant docs exist, so it reads</a:t>
            </a:r>
          </a:p>
          <a:p>
            <a:r>
              <a:t>  on its own — but it saturates at 1.000 on a narrow corpus, which happened here.</a:t>
            </a:r>
          </a:p>
          <a:p>
            <a:r>
              <a:t>- recall@k — share of ALL relevant documents retrieved. MUST be read against its ceiling:</a:t>
            </a:r>
          </a:p>
          <a:p>
            <a:r>
              <a:t>  with 24 relevant documents, recall@10 cannot exceed 10/24 = 0.42. It is not scored</a:t>
            </a:r>
          </a:p>
          <a:p>
            <a:r>
              <a:t>  against 1.0. Every report records recall_ceiling@k beside it.</a:t>
            </a:r>
          </a:p>
          <a:p>
            <a:r>
              <a:t>- recall@50 is the metric for a FIRST-STAGE retriever: a reranker can reorder what was</a:t>
            </a:r>
          </a:p>
          <a:p>
            <a:r>
              <a:t>  found but can never recover a claim that was never retrieved.</a:t>
            </a:r>
          </a:p>
          <a:p>
            <a:r>
              <a:t>- precision@k — share of the top k that is relevant. The attorney's-time metric.</a:t>
            </a:r>
          </a:p>
          <a:p>
            <a:r>
              <a:t>- MRR@k — reciprocal rank of the first relevant hit. How fast you see something useful.</a:t>
            </a:r>
          </a:p>
          <a:p>
            <a:r>
              <a:t>- nDCG@k — the only one using the graded 0-3 scale, discounted by position. Perfect</a:t>
            </a:r>
          </a:p>
          <a:p>
            <a:r>
              <a:t>  ordering = 1.0. THE headline for a reranker, because reranking changes order without</a:t>
            </a:r>
          </a:p>
          <a:p>
            <a:r>
              <a:t>  changing membership.</a:t>
            </a:r>
          </a:p>
          <a:p>
            <a:r>
              <a:t>- p-value — paired bootstrap, 10,000 resamples. Both systems run the same queries so</a:t>
            </a:r>
          </a:p>
          <a:p>
            <a:r>
              <a:t>  scores are paired. Below 0.05 conventionally means unlikely to be chance.</a:t>
            </a:r>
          </a:p>
          <a:p>
            <a:r>
              <a:t>  Distribution-free, because IR metrics are bounded and skewed, not normal.</a:t>
            </a:r>
          </a:p>
          <a:p/>
          <a:p>
            <a:r>
              <a:t>ARE THESE NUMBERS GOOD? WHAT WOULD YOU NOT CLAIM?</a:t>
            </a:r>
          </a:p>
          <a:p>
            <a:r>
              <a:t>The COMPARISON is trustworthy: hybrid beats BM25 on recall@50 by 52% at p=0.0001, on</a:t>
            </a:r>
          </a:p>
          <a:p>
            <a:r>
              <a:t>identical qrels, so pooling bias affects both equally.</a:t>
            </a:r>
          </a:p>
          <a:p>
            <a:r>
              <a:t>The ABSOLUTE values are flattering, and I would say so before a reviewer finds it:</a:t>
            </a:r>
          </a:p>
          <a:p>
            <a:r>
              <a:t> (1) the pool was built from these systems' own output, so almost every judged-relevant</a:t>
            </a:r>
          </a:p>
          <a:p>
            <a:r>
              <a:t>     document was retrieved by something — standard TREC pooling bias;</a:t>
            </a:r>
          </a:p>
          <a:p>
            <a:r>
              <a:t> (2) the assessor is an LLM and graded generously (1390 grade-1, 1272 grade-2, 604</a:t>
            </a:r>
          </a:p>
          <a:p>
            <a:r>
              <a:t>     grade-3);</a:t>
            </a:r>
          </a:p>
          <a:p>
            <a:r>
              <a:t> (3) in a 640-patent corpus that is entirely wheels and tyres, almost anything is</a:t>
            </a:r>
          </a:p>
          <a:p>
            <a:r>
              <a:t>     somewhat related — which is why success@10 hit 1.000 for all three and stopped</a:t>
            </a:r>
          </a:p>
          <a:p>
            <a:r>
              <a:t>     discriminating.</a:t>
            </a:r>
          </a:p>
          <a:p>
            <a:r>
              <a:t>I would quote nDCG@10 and the p-values. I would NOT quote P@5 = 1.000 as evidence.</a:t>
            </a:r>
          </a:p>
          <a:p/>
          <a:p>
            <a:r>
              <a:t>WHY LEARNING-TO-RANK RATHER THAN FINE-TUNING A CROSS-ENCODER?</a:t>
            </a:r>
          </a:p>
          <a:p>
            <a:r>
              <a:t>Trains in seconds on CPU, scores in microseconds instead of ~90 ms, needs no model</a:t>
            </a:r>
          </a:p>
          <a:p>
            <a:r>
              <a:t>download, and is what production search actually does — OpenSearch ships an LTR plugin</a:t>
            </a:r>
          </a:p>
          <a:p>
            <a:r>
              <a:t>for exactly this. The trade: it only sees the features (ranks, scores, retriever</a:t>
            </a:r>
          </a:p>
          <a:p>
            <a:r>
              <a:t>agreement, record type, overlap), never the candidate text.</a:t>
            </a:r>
          </a:p>
          <a:p>
            <a:r>
              <a:t>Split is BY PATENT, not by row — records from one patent share vocabulary, so a row-level</a:t>
            </a:r>
          </a:p>
          <a:p>
            <a:r>
              <a:t>split leaks the answer. Top features: vector reciprocal rank 0.285, fused score 0.243,</a:t>
            </a:r>
          </a:p>
          <a:p>
            <a:r>
              <a:t>BM25 reciprocal rank 0.136 — the model largely learned how much to trust the semantic</a:t>
            </a:r>
          </a:p>
          <a:p>
            <a:r>
              <a:t>ranking relative to the lexical one.</a:t>
            </a:r>
          </a:p>
          <a:p/>
          <a:p>
            <a:r>
              <a:t>WHAT IS TREC POOLING?</a:t>
            </a:r>
          </a:p>
          <a:p>
            <a:r>
              <a:t>Run every system, take the top-15 each, union and dedupe (~26 candidates per query),</a:t>
            </a:r>
          </a:p>
          <a:p>
            <a:r>
              <a:t>judge each 0-3 against an examiner rubric, treat anything unjudged as non-relevant. The</a:t>
            </a:r>
          </a:p>
          <a:p>
            <a:r>
              <a:t>standard method since 1992. 2,095 judgements, 235 API calls, cached on disk so re-running</a:t>
            </a:r>
          </a:p>
          <a:p>
            <a:r>
              <a:t>is free and human labels can replace the LLM's wholesale.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DID YOU GET THESE COST NUMBERS?</a:t>
            </a:r>
          </a:p>
          <a:p>
            <a:r>
              <a:t>Extrapolated from measurements on the 640-patent sample, not guessed. Measured basis:</a:t>
            </a:r>
          </a:p>
          <a:p>
            <a:r>
              <a:t>29.3 records per patent, 24K characters per patent, ~6,900 embedding tokens per patent,</a:t>
            </a:r>
          </a:p>
          <a:p>
            <a:r>
              <a:t>2.5s record build, 2.2s bulk index. Scaled to 10^7 patents: 293M records, ~240 GB raw</a:t>
            </a:r>
          </a:p>
          <a:p>
            <a:r>
              <a:t>text, ~69B embedding tokens. At $0.02/1M tokens that is ~$1,400 for a full hosted</a:t>
            </a:r>
          </a:p>
          <a:p>
            <a:r>
              <a:t>backfill; self-hosting MiniLM on 8x g5.xlarge for ~40h is ~$350, so self-host the</a:t>
            </a:r>
          </a:p>
          <a:p>
            <a:r>
              <a:t>backfill and use the hosted API for the weekly delta where operational simplicity wins.</a:t>
            </a:r>
          </a:p>
          <a:p/>
          <a:p>
            <a:r>
              <a:t>WHAT BREAKS FIRST AT SCALE?</a:t>
            </a:r>
          </a:p>
          <a:p>
            <a:r>
              <a:t>Vector index memory. 293M x 1536 dims x 4 bytes = 1.8 TB of float32, and HNSW wants it</a:t>
            </a:r>
          </a:p>
          <a:p>
            <a:r>
              <a:t>resident. That is the binding constraint, not CPU. Three levers in order of value:</a:t>
            </a:r>
          </a:p>
          <a:p>
            <a:r>
              <a:t>dimension reduction (Matryoshka to 512d, already wired as --dimensions), int8</a:t>
            </a:r>
          </a:p>
          <a:p>
            <a:r>
              <a:t>quantisation (4x), and not embedding description passages at all (38% of records, least</a:t>
            </a:r>
          </a:p>
          <a:p>
            <a:r>
              <a:t>queried). All three together bring the cluster from ~$2,600/mo to ~$700/mo.</a:t>
            </a:r>
          </a:p>
          <a:p/>
          <a:p>
            <a:r>
              <a:t>WHAT ELSE IS HARD AT SCALE?</a:t>
            </a:r>
          </a:p>
          <a:p>
            <a:r>
              <a:t>- Reindexing on model change: swapping embedding models invalidates 293M vectors. Version</a:t>
            </a:r>
          </a:p>
          <a:p>
            <a:r>
              <a:t>  the index, build the new one alongside, alias-swap. Never reindex in place.</a:t>
            </a:r>
          </a:p>
          <a:p>
            <a:r>
              <a:t>- Claim reconstruction drift: upstream XML format changes silently corrupt claims. The</a:t>
            </a:r>
          </a:p>
          <a:p>
            <a:r>
              <a:t>  invariant test runs per release, and the number_inferred rate is an alarm.</a:t>
            </a:r>
          </a:p>
          <a:p>
            <a:r>
              <a:t>- Filter selectivity: B60B matches 47% here but a narrow CPC code may match 0.001% of</a:t>
            </a:r>
          </a:p>
          <a:p>
            <a:r>
              <a:t>  10M. Pre-filter in traversal, fall back to lexical-only below a cardinality threshold.</a:t>
            </a:r>
          </a:p>
          <a:p>
            <a:r>
              <a:t>- Hot shards: recent filings are queried far more. Time-based index tiering.</a:t>
            </a:r>
          </a:p>
          <a:p/>
          <a:p>
            <a:r>
              <a:t>WHY SQLITE FOR THE PROOF OF CONCEPT?</a:t>
            </a:r>
          </a:p>
          <a:p>
            <a:r>
              <a:t>It is stdlib, needs no daemon or container, and has the same semantics we want from</a:t>
            </a:r>
          </a:p>
          <a:p>
            <a:r>
              <a:t>Postgres — transactional claim via BEGIN IMMEDIATE, unique primary key, atomic status</a:t>
            </a:r>
          </a:p>
          <a:p>
            <a:r>
              <a:t>transitions. Swapping the DSN is the only change needed for production. The POC</a:t>
            </a:r>
          </a:p>
          <a:p>
            <a:r>
              <a:t>demonstrates idempotency, versioned reprocessing, crash recovery via lease expiry, and</a:t>
            </a:r>
          </a:p>
          <a:p>
            <a:r>
              <a:t>retry accounting, all on the real 640-patent corpus.</a:t>
            </a:r>
          </a:p>
          <a:p/>
          <a:p>
            <a:r>
              <a:t>WHAT IS STILL UNPROVEN?</a:t>
            </a:r>
          </a:p>
          <a:p>
            <a:r>
              <a:t>640 patents is a POC. Behaviour at 10M is argued, not measured. build_index.py holds all</a:t>
            </a:r>
          </a:p>
          <a:p>
            <a:r>
              <a:t>embeddings in memory before writing — fine here, won't scale; the queue-driven worker</a:t>
            </a:r>
          </a:p>
          <a:p>
            <a:r>
              <a:t>path is the one that does. The API has no auth or rate limiting, correct for localhost</a:t>
            </a:r>
          </a:p>
          <a:p>
            <a:r>
              <a:t>and wrong for anything exposed.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37160" cy="6858000"/>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137160" y="0"/>
            <a:ext cx="548640" cy="292608"/>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a:solidFill>
                  <a:srgbClr val="FFFFFF"/>
                </a:solidFill>
                <a:latin typeface="Consolas"/>
              </a:rPr>
              <a:t>01</a:t>
            </a:r>
          </a:p>
        </p:txBody>
      </p:sp>
      <p:sp>
        <p:nvSpPr>
          <p:cNvPr id="5" name="TextBox 4"/>
          <p:cNvSpPr txBox="1"/>
          <p:nvPr/>
        </p:nvSpPr>
        <p:spPr>
          <a:xfrm>
            <a:off x="777240" y="566928"/>
            <a:ext cx="10847527" cy="237744"/>
          </a:xfrm>
          <a:prstGeom prst="rect">
            <a:avLst/>
          </a:prstGeom>
          <a:noFill/>
        </p:spPr>
        <p:txBody>
          <a:bodyPr wrap="square" anchor="t" lIns="0" rIns="0" tIns="0" bIns="0">
            <a:spAutoFit/>
          </a:bodyPr>
          <a:lstStyle/>
          <a:p>
            <a:pPr algn="l">
              <a:spcBef>
                <a:spcPts val="0"/>
              </a:spcBef>
              <a:spcAft>
                <a:spcPts val="0"/>
              </a:spcAft>
            </a:pPr>
            <a:r>
              <a:rPr sz="1000" b="1">
                <a:solidFill>
                  <a:srgbClr val="1C4FD8"/>
                </a:solidFill>
                <a:latin typeface="Consolas"/>
              </a:rPr>
              <a:t>THINKSTRUCT · CODING TASK · ARYAN JAIN</a:t>
            </a:r>
          </a:p>
        </p:txBody>
      </p:sp>
      <p:sp>
        <p:nvSpPr>
          <p:cNvPr id="6" name="TextBox 5"/>
          <p:cNvSpPr txBox="1"/>
          <p:nvPr/>
        </p:nvSpPr>
        <p:spPr>
          <a:xfrm>
            <a:off x="777240" y="877824"/>
            <a:ext cx="10847527" cy="1325880"/>
          </a:xfrm>
          <a:prstGeom prst="rect">
            <a:avLst/>
          </a:prstGeom>
          <a:noFill/>
        </p:spPr>
        <p:txBody>
          <a:bodyPr wrap="square" anchor="t" lIns="0" rIns="0" tIns="0" bIns="0">
            <a:spAutoFit/>
          </a:bodyPr>
          <a:lstStyle/>
          <a:p>
            <a:pPr algn="l">
              <a:lnSpc>
                <a:spcPct val="106000"/>
              </a:lnSpc>
              <a:spcBef>
                <a:spcPts val="0"/>
              </a:spcBef>
              <a:spcAft>
                <a:spcPts val="0"/>
              </a:spcAft>
            </a:pPr>
            <a:r>
              <a:rPr sz="3200" b="1">
                <a:solidFill>
                  <a:srgbClr val="131A24"/>
                </a:solidFill>
                <a:latin typeface="Georgia"/>
              </a:rPr>
              <a:t>Finding the claim that already covers your invention</a:t>
            </a:r>
          </a:p>
        </p:txBody>
      </p:sp>
      <p:sp>
        <p:nvSpPr>
          <p:cNvPr id="7" name="TextBox 6"/>
          <p:cNvSpPr txBox="1"/>
          <p:nvPr/>
        </p:nvSpPr>
        <p:spPr>
          <a:xfrm>
            <a:off x="777240" y="2231136"/>
            <a:ext cx="10058400" cy="548640"/>
          </a:xfrm>
          <a:prstGeom prst="rect">
            <a:avLst/>
          </a:prstGeom>
          <a:noFill/>
        </p:spPr>
        <p:txBody>
          <a:bodyPr wrap="square" anchor="t" lIns="0" rIns="0" tIns="0" bIns="0">
            <a:spAutoFit/>
          </a:bodyPr>
          <a:lstStyle/>
          <a:p>
            <a:pPr>
              <a:lnSpc>
                <a:spcPct val="135000"/>
              </a:lnSpc>
              <a:spcBef>
                <a:spcPts val="0"/>
              </a:spcBef>
              <a:spcAft>
                <a:spcPts val="0"/>
              </a:spcAft>
            </a:pPr>
            <a:r>
              <a:rPr sz="1350" b="0">
                <a:solidFill>
                  <a:srgbClr val="35424F"/>
                </a:solidFill>
                <a:latin typeface="Calibri"/>
              </a:rPr>
              <a:t>Before filing, litigating or committing R&amp;D budget someone must answer: </a:t>
            </a:r>
            <a:r>
              <a:rPr sz="1350" b="1">
                <a:solidFill>
                  <a:srgbClr val="131A24"/>
                </a:solidFill>
                <a:latin typeface="Calibri"/>
              </a:rPr>
              <a:t>has anyone already claimed this?</a:t>
            </a:r>
            <a:r>
              <a:rPr sz="1350" b="0">
                <a:solidFill>
                  <a:srgbClr val="35424F"/>
                </a:solidFill>
                <a:latin typeface="Calibri"/>
              </a:rPr>
              <a:t>  A </a:t>
            </a:r>
            <a:r>
              <a:rPr sz="1350" b="1">
                <a:solidFill>
                  <a:srgbClr val="131A24"/>
                </a:solidFill>
                <a:latin typeface="Calibri"/>
              </a:rPr>
              <a:t>carbon fibre spoke</a:t>
            </a:r>
            <a:r>
              <a:rPr sz="1350" b="0">
                <a:solidFill>
                  <a:srgbClr val="35424F"/>
                </a:solidFill>
                <a:latin typeface="Calibri"/>
              </a:rPr>
              <a:t> may be claimed elsewhere as an </a:t>
            </a:r>
            <a:r>
              <a:rPr sz="1350" b="1">
                <a:solidFill>
                  <a:srgbClr val="131A24"/>
                </a:solidFill>
                <a:latin typeface="Calibri"/>
              </a:rPr>
              <a:t>elongate composite tension member</a:t>
            </a:r>
            <a:r>
              <a:rPr sz="1350" b="0">
                <a:solidFill>
                  <a:srgbClr val="35424F"/>
                </a:solidFill>
                <a:latin typeface="Calibri"/>
              </a:rPr>
              <a:t> — keyword search misses it, and reading 10M patents is not an option.</a:t>
            </a:r>
          </a:p>
        </p:txBody>
      </p:sp>
      <p:sp>
        <p:nvSpPr>
          <p:cNvPr id="8" name="Rectangle 7"/>
          <p:cNvSpPr/>
          <p:nvPr/>
        </p:nvSpPr>
        <p:spPr>
          <a:xfrm>
            <a:off x="777240" y="2980944"/>
            <a:ext cx="5286603" cy="96012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980944"/>
            <a:ext cx="38100" cy="960120"/>
          </a:xfrm>
          <a:prstGeom prst="rect">
            <a:avLst/>
          </a:prstGeom>
          <a:solidFill>
            <a:srgbClr val="A453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23544" y="3090672"/>
            <a:ext cx="5012283" cy="777240"/>
          </a:xfrm>
          <a:prstGeom prst="rect">
            <a:avLst/>
          </a:prstGeom>
          <a:noFill/>
        </p:spPr>
        <p:txBody>
          <a:bodyPr wrap="square" anchor="t" lIns="0" rIns="0" tIns="0" bIns="0">
            <a:spAutoFit/>
          </a:bodyPr>
          <a:lstStyle/>
          <a:p>
            <a:pPr algn="l">
              <a:spcBef>
                <a:spcPts val="0"/>
              </a:spcBef>
              <a:spcAft>
                <a:spcPts val="400"/>
              </a:spcAft>
            </a:pPr>
            <a:r>
              <a:rPr sz="1200" b="1">
                <a:solidFill>
                  <a:srgbClr val="131A24"/>
                </a:solidFill>
                <a:latin typeface="Calibri"/>
              </a:rPr>
              <a:t>Missing prior art</a:t>
            </a:r>
          </a:p>
          <a:p>
            <a:pPr algn="l">
              <a:lnSpc>
                <a:spcPct val="120000"/>
              </a:lnSpc>
              <a:spcBef>
                <a:spcPts val="0"/>
              </a:spcBef>
              <a:spcAft>
                <a:spcPts val="0"/>
              </a:spcAft>
            </a:pPr>
            <a:r>
              <a:rPr sz="1100" b="0">
                <a:solidFill>
                  <a:srgbClr val="35424F"/>
                </a:solidFill>
                <a:latin typeface="Calibri"/>
              </a:rPr>
              <a:t>A patent issues that is invalid. It surfaces in litigation, where invalidation runs $1–3M and the R&amp;D is already sunk.</a:t>
            </a:r>
          </a:p>
        </p:txBody>
      </p:sp>
      <p:sp>
        <p:nvSpPr>
          <p:cNvPr id="11" name="Rectangle 10"/>
          <p:cNvSpPr/>
          <p:nvPr/>
        </p:nvSpPr>
        <p:spPr>
          <a:xfrm>
            <a:off x="6338163" y="2980944"/>
            <a:ext cx="5286603" cy="96012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338163" y="2980944"/>
            <a:ext cx="38100" cy="960120"/>
          </a:xfrm>
          <a:prstGeom prst="rect">
            <a:avLst/>
          </a:prstGeom>
          <a:solidFill>
            <a:srgbClr val="A453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84467" y="3090672"/>
            <a:ext cx="5012283" cy="777240"/>
          </a:xfrm>
          <a:prstGeom prst="rect">
            <a:avLst/>
          </a:prstGeom>
          <a:noFill/>
        </p:spPr>
        <p:txBody>
          <a:bodyPr wrap="square" anchor="t" lIns="0" rIns="0" tIns="0" bIns="0">
            <a:spAutoFit/>
          </a:bodyPr>
          <a:lstStyle/>
          <a:p>
            <a:pPr algn="l">
              <a:spcBef>
                <a:spcPts val="0"/>
              </a:spcBef>
              <a:spcAft>
                <a:spcPts val="400"/>
              </a:spcAft>
            </a:pPr>
            <a:r>
              <a:rPr sz="1200" b="1">
                <a:solidFill>
                  <a:srgbClr val="131A24"/>
                </a:solidFill>
                <a:latin typeface="Calibri"/>
              </a:rPr>
              <a:t>Returning noise</a:t>
            </a:r>
          </a:p>
          <a:p>
            <a:pPr algn="l">
              <a:lnSpc>
                <a:spcPct val="120000"/>
              </a:lnSpc>
              <a:spcBef>
                <a:spcPts val="0"/>
              </a:spcBef>
              <a:spcAft>
                <a:spcPts val="0"/>
              </a:spcAft>
            </a:pPr>
            <a:r>
              <a:rPr sz="1100" b="0">
                <a:solidFill>
                  <a:srgbClr val="35424F"/>
                </a:solidFill>
                <a:latin typeface="Calibri"/>
              </a:rPr>
              <a:t>Attorneys read hundreds of irrelevant patents at $400–700/hour. 200 vague hits has saved nobody anything.</a:t>
            </a:r>
          </a:p>
        </p:txBody>
      </p:sp>
      <p:sp>
        <p:nvSpPr>
          <p:cNvPr id="14" name="Rectangle 13"/>
          <p:cNvSpPr/>
          <p:nvPr/>
        </p:nvSpPr>
        <p:spPr>
          <a:xfrm>
            <a:off x="777240" y="4096512"/>
            <a:ext cx="10847527" cy="9525"/>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297680"/>
            <a:ext cx="10847527" cy="237744"/>
          </a:xfrm>
          <a:prstGeom prst="rect">
            <a:avLst/>
          </a:prstGeom>
          <a:noFill/>
        </p:spPr>
        <p:txBody>
          <a:bodyPr wrap="square" anchor="t" lIns="0" rIns="0" tIns="0" bIns="0">
            <a:spAutoFit/>
          </a:bodyPr>
          <a:lstStyle/>
          <a:p>
            <a:pPr algn="l">
              <a:spcBef>
                <a:spcPts val="0"/>
              </a:spcBef>
              <a:spcAft>
                <a:spcPts val="0"/>
              </a:spcAft>
            </a:pPr>
            <a:r>
              <a:rPr sz="1000" b="1">
                <a:solidFill>
                  <a:srgbClr val="1C4FD8"/>
                </a:solidFill>
                <a:latin typeface="Consolas"/>
              </a:rPr>
              <a:t>DESIGN DECISION · RETRIEVAL OPERATES ON CLAIMS, NEVER WHOLE PATENTS</a:t>
            </a:r>
          </a:p>
        </p:txBody>
      </p:sp>
      <p:sp>
        <p:nvSpPr>
          <p:cNvPr id="16" name="Rectangle 15"/>
          <p:cNvSpPr/>
          <p:nvPr/>
        </p:nvSpPr>
        <p:spPr>
          <a:xfrm>
            <a:off x="777240" y="4663440"/>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86968" y="4663440"/>
            <a:ext cx="3323234"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16.5</a:t>
            </a:r>
          </a:p>
          <a:p>
            <a:pPr algn="l">
              <a:lnSpc>
                <a:spcPct val="115000"/>
              </a:lnSpc>
              <a:spcBef>
                <a:spcPts val="0"/>
              </a:spcBef>
              <a:spcAft>
                <a:spcPts val="0"/>
              </a:spcAft>
            </a:pPr>
            <a:r>
              <a:rPr sz="1000" b="0">
                <a:solidFill>
                  <a:srgbClr val="61707F"/>
                </a:solidFill>
                <a:latin typeface="Calibri"/>
              </a:rPr>
              <a:t>average claims per patent — one blob matches every query in the field</a:t>
            </a:r>
          </a:p>
        </p:txBody>
      </p:sp>
      <p:sp>
        <p:nvSpPr>
          <p:cNvPr id="18" name="Rectangle 17"/>
          <p:cNvSpPr/>
          <p:nvPr/>
        </p:nvSpPr>
        <p:spPr>
          <a:xfrm>
            <a:off x="4484522" y="4663440"/>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94250" y="4663440"/>
            <a:ext cx="3323234"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Legal</a:t>
            </a:r>
          </a:p>
          <a:p>
            <a:pPr algn="l">
              <a:lnSpc>
                <a:spcPct val="115000"/>
              </a:lnSpc>
              <a:spcBef>
                <a:spcPts val="0"/>
              </a:spcBef>
              <a:spcAft>
                <a:spcPts val="0"/>
              </a:spcAft>
            </a:pPr>
            <a:r>
              <a:rPr sz="1000" b="0">
                <a:solidFill>
                  <a:srgbClr val="61707F"/>
                </a:solidFill>
                <a:latin typeface="Calibri"/>
              </a:rPr>
              <a:t>infringement is decided claim by claim; “patent X is relevant” is not actionable</a:t>
            </a:r>
          </a:p>
        </p:txBody>
      </p:sp>
      <p:sp>
        <p:nvSpPr>
          <p:cNvPr id="20" name="Rectangle 19"/>
          <p:cNvSpPr/>
          <p:nvPr/>
        </p:nvSpPr>
        <p:spPr>
          <a:xfrm>
            <a:off x="8191804" y="4663440"/>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01532" y="4663440"/>
            <a:ext cx="3323234"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Evidence</a:t>
            </a:r>
          </a:p>
          <a:p>
            <a:pPr algn="l">
              <a:lnSpc>
                <a:spcPct val="115000"/>
              </a:lnSpc>
              <a:spcBef>
                <a:spcPts val="0"/>
              </a:spcBef>
              <a:spcAft>
                <a:spcPts val="0"/>
              </a:spcAft>
            </a:pPr>
            <a:r>
              <a:rPr sz="1000" b="0">
                <a:solidFill>
                  <a:srgbClr val="61707F"/>
                </a:solidFill>
                <a:latin typeface="Calibri"/>
              </a:rPr>
              <a:t>every result names the matching record, so output is checked not trusted</a:t>
            </a:r>
          </a:p>
        </p:txBody>
      </p:sp>
      <p:sp>
        <p:nvSpPr>
          <p:cNvPr id="22" name="Rectangle 21"/>
          <p:cNvSpPr/>
          <p:nvPr/>
        </p:nvSpPr>
        <p:spPr>
          <a:xfrm>
            <a:off x="777240" y="5577840"/>
            <a:ext cx="10847527" cy="603504"/>
          </a:xfrm>
          <a:prstGeom prst="rect">
            <a:avLst/>
          </a:prstGeom>
          <a:solidFill>
            <a:srgbClr val="E6EC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77240" y="5577840"/>
            <a:ext cx="38100" cy="60350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3544" y="5687568"/>
            <a:ext cx="10573207" cy="420624"/>
          </a:xfrm>
          <a:prstGeom prst="rect">
            <a:avLst/>
          </a:prstGeom>
          <a:noFill/>
        </p:spPr>
        <p:txBody>
          <a:bodyPr wrap="square" anchor="t" lIns="0" rIns="0" tIns="0" bIns="0">
            <a:spAutoFit/>
          </a:bodyPr>
          <a:lstStyle/>
          <a:p>
            <a:pPr algn="l">
              <a:lnSpc>
                <a:spcPct val="120000"/>
              </a:lnSpc>
              <a:spcBef>
                <a:spcPts val="0"/>
              </a:spcBef>
              <a:spcAft>
                <a:spcPts val="0"/>
              </a:spcAft>
            </a:pPr>
            <a:r>
              <a:rPr sz="1100" b="0">
                <a:solidFill>
                  <a:srgbClr val="35424F"/>
                </a:solidFill>
                <a:latin typeface="Calibri"/>
              </a:rPr>
              <a:t>Scope boundary — the system surfaces and ranks technically similar claims. It does not output novelty, validity or infringement conclusions; those are legal determinations, and the reranker prompt says so explicitly.</a:t>
            </a:r>
          </a:p>
        </p:txBody>
      </p:sp>
      <p:sp>
        <p:nvSpPr>
          <p:cNvPr id="25" name="TextBox 24"/>
          <p:cNvSpPr txBox="1"/>
          <p:nvPr/>
        </p:nvSpPr>
        <p:spPr>
          <a:xfrm>
            <a:off x="777240" y="6419088"/>
            <a:ext cx="10847527" cy="237744"/>
          </a:xfrm>
          <a:prstGeom prst="rect">
            <a:avLst/>
          </a:prstGeom>
          <a:noFill/>
        </p:spPr>
        <p:txBody>
          <a:bodyPr wrap="square" anchor="t" lIns="0" rIns="0" tIns="0" bIns="0">
            <a:spAutoFit/>
          </a:bodyPr>
          <a:lstStyle/>
          <a:p>
            <a:pPr algn="l">
              <a:spcBef>
                <a:spcPts val="0"/>
              </a:spcBef>
              <a:spcAft>
                <a:spcPts val="0"/>
              </a:spcAft>
            </a:pPr>
            <a:r>
              <a:rPr sz="1000" b="0">
                <a:solidFill>
                  <a:srgbClr val="61707F"/>
                </a:solidFill>
                <a:latin typeface="Consolas"/>
              </a:rPr>
              <a:t>640 patents · 18,743 indexed records · 329 tests · github.com/aryanjain285/thinkstruct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66928" cy="292608"/>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a:solidFill>
                  <a:srgbClr val="FFFFFF"/>
                </a:solidFill>
                <a:latin typeface="Consolas"/>
              </a:rPr>
              <a:t>02</a:t>
            </a:r>
          </a:p>
        </p:txBody>
      </p:sp>
      <p:sp>
        <p:nvSpPr>
          <p:cNvPr id="4" name="TextBox 3"/>
          <p:cNvSpPr txBox="1"/>
          <p:nvPr/>
        </p:nvSpPr>
        <p:spPr>
          <a:xfrm>
            <a:off x="566928" y="566928"/>
            <a:ext cx="11057839" cy="219456"/>
          </a:xfrm>
          <a:prstGeom prst="rect">
            <a:avLst/>
          </a:prstGeom>
          <a:noFill/>
        </p:spPr>
        <p:txBody>
          <a:bodyPr wrap="square" anchor="t" lIns="0" rIns="0" tIns="0" bIns="0">
            <a:spAutoFit/>
          </a:bodyPr>
          <a:lstStyle/>
          <a:p>
            <a:pPr algn="l">
              <a:spcBef>
                <a:spcPts val="0"/>
              </a:spcBef>
              <a:spcAft>
                <a:spcPts val="0"/>
              </a:spcAft>
            </a:pPr>
            <a:r>
              <a:rPr sz="1000" b="1">
                <a:solidFill>
                  <a:srgbClr val="1C4FD8"/>
                </a:solidFill>
                <a:latin typeface="Consolas"/>
              </a:rPr>
              <a:t>ARCHITECTURE</a:t>
            </a:r>
          </a:p>
        </p:txBody>
      </p:sp>
      <p:sp>
        <p:nvSpPr>
          <p:cNvPr id="5" name="TextBox 4"/>
          <p:cNvSpPr txBox="1"/>
          <p:nvPr/>
        </p:nvSpPr>
        <p:spPr>
          <a:xfrm>
            <a:off x="566928" y="841248"/>
            <a:ext cx="11057839" cy="566928"/>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31A24"/>
                </a:solidFill>
                <a:latin typeface="Georgia"/>
              </a:rPr>
              <a:t>Two retrievers, one filter set, fused and reranked</a:t>
            </a:r>
          </a:p>
        </p:txBody>
      </p:sp>
      <p:sp>
        <p:nvSpPr>
          <p:cNvPr id="6" name="Rectangle 5"/>
          <p:cNvSpPr/>
          <p:nvPr/>
        </p:nvSpPr>
        <p:spPr>
          <a:xfrm>
            <a:off x="566928" y="1554480"/>
            <a:ext cx="1572768" cy="566928"/>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Raw JSON</a:t>
            </a:r>
          </a:p>
          <a:p>
            <a:pPr algn="ctr">
              <a:spcBef>
                <a:spcPts val="0"/>
              </a:spcBef>
              <a:spcAft>
                <a:spcPts val="0"/>
              </a:spcAft>
            </a:pPr>
            <a:r>
              <a:rPr sz="900" b="0">
                <a:solidFill>
                  <a:srgbClr val="61707F"/>
                </a:solidFill>
                <a:latin typeface="Consolas"/>
              </a:rPr>
              <a:t>64 files</a:t>
            </a:r>
          </a:p>
        </p:txBody>
      </p:sp>
      <p:sp>
        <p:nvSpPr>
          <p:cNvPr id="7" name="Right Arrow 6"/>
          <p:cNvSpPr/>
          <p:nvPr/>
        </p:nvSpPr>
        <p:spPr>
          <a:xfrm>
            <a:off x="2212848" y="1773936"/>
            <a:ext cx="237744"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23744" y="1554480"/>
            <a:ext cx="1572768" cy="566928"/>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Validate</a:t>
            </a:r>
          </a:p>
          <a:p>
            <a:pPr algn="ctr">
              <a:spcBef>
                <a:spcPts val="0"/>
              </a:spcBef>
              <a:spcAft>
                <a:spcPts val="0"/>
              </a:spcAft>
            </a:pPr>
            <a:r>
              <a:rPr sz="900" b="0">
                <a:solidFill>
                  <a:srgbClr val="61707F"/>
                </a:solidFill>
                <a:latin typeface="Consolas"/>
              </a:rPr>
              <a:t>graded</a:t>
            </a:r>
          </a:p>
        </p:txBody>
      </p:sp>
      <p:sp>
        <p:nvSpPr>
          <p:cNvPr id="9" name="Right Arrow 8"/>
          <p:cNvSpPr/>
          <p:nvPr/>
        </p:nvSpPr>
        <p:spPr>
          <a:xfrm>
            <a:off x="4169664" y="1773936"/>
            <a:ext cx="237744"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60" y="1554480"/>
            <a:ext cx="1572768" cy="566928"/>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Normalise</a:t>
            </a:r>
          </a:p>
          <a:p>
            <a:pPr algn="ctr">
              <a:spcBef>
                <a:spcPts val="0"/>
              </a:spcBef>
              <a:spcAft>
                <a:spcPts val="0"/>
              </a:spcAft>
            </a:pPr>
            <a:r>
              <a:rPr sz="900" b="0">
                <a:solidFill>
                  <a:srgbClr val="61707F"/>
                </a:solidFill>
                <a:latin typeface="Consolas"/>
              </a:rPr>
              <a:t>NFKC</a:t>
            </a:r>
          </a:p>
        </p:txBody>
      </p:sp>
      <p:sp>
        <p:nvSpPr>
          <p:cNvPr id="11" name="Right Arrow 10"/>
          <p:cNvSpPr/>
          <p:nvPr/>
        </p:nvSpPr>
        <p:spPr>
          <a:xfrm>
            <a:off x="6126480" y="1773936"/>
            <a:ext cx="237744"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37376" y="1554480"/>
            <a:ext cx="1572768" cy="566928"/>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Reconstruct</a:t>
            </a:r>
          </a:p>
          <a:p>
            <a:pPr algn="ctr">
              <a:spcBef>
                <a:spcPts val="0"/>
              </a:spcBef>
              <a:spcAft>
                <a:spcPts val="0"/>
              </a:spcAft>
            </a:pPr>
            <a:r>
              <a:rPr sz="900" b="0">
                <a:solidFill>
                  <a:srgbClr val="61707F"/>
                </a:solidFill>
                <a:latin typeface="Consolas"/>
              </a:rPr>
              <a:t>claims</a:t>
            </a:r>
          </a:p>
        </p:txBody>
      </p:sp>
      <p:sp>
        <p:nvSpPr>
          <p:cNvPr id="13" name="Rectangle 12"/>
          <p:cNvSpPr/>
          <p:nvPr/>
        </p:nvSpPr>
        <p:spPr>
          <a:xfrm>
            <a:off x="6437376" y="1554480"/>
            <a:ext cx="50292" cy="566928"/>
          </a:xfrm>
          <a:prstGeom prst="rect">
            <a:avLst/>
          </a:prstGeom>
          <a:solidFill>
            <a:srgbClr val="A453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ight Arrow 13"/>
          <p:cNvSpPr/>
          <p:nvPr/>
        </p:nvSpPr>
        <p:spPr>
          <a:xfrm>
            <a:off x="8083296" y="1773936"/>
            <a:ext cx="237744"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94192" y="1554480"/>
            <a:ext cx="1572768" cy="566928"/>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Records</a:t>
            </a:r>
          </a:p>
          <a:p>
            <a:pPr algn="ctr">
              <a:spcBef>
                <a:spcPts val="0"/>
              </a:spcBef>
              <a:spcAft>
                <a:spcPts val="0"/>
              </a:spcAft>
            </a:pPr>
            <a:r>
              <a:rPr sz="900" b="0">
                <a:solidFill>
                  <a:srgbClr val="61707F"/>
                </a:solidFill>
                <a:latin typeface="Consolas"/>
              </a:rPr>
              <a:t>18,743</a:t>
            </a:r>
          </a:p>
        </p:txBody>
      </p:sp>
      <p:sp>
        <p:nvSpPr>
          <p:cNvPr id="16" name="Rectangle 15"/>
          <p:cNvSpPr/>
          <p:nvPr/>
        </p:nvSpPr>
        <p:spPr>
          <a:xfrm>
            <a:off x="10351008" y="1554480"/>
            <a:ext cx="1325880" cy="566928"/>
          </a:xfrm>
          <a:prstGeom prst="rect">
            <a:avLst/>
          </a:prstGeom>
          <a:solidFill>
            <a:srgbClr val="E6ECFD"/>
          </a:solidFill>
          <a:ln w="9525">
            <a:solidFill>
              <a:srgbClr val="1C4FD8"/>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OpenSearch</a:t>
            </a:r>
          </a:p>
          <a:p>
            <a:pPr algn="ctr">
              <a:spcBef>
                <a:spcPts val="0"/>
              </a:spcBef>
              <a:spcAft>
                <a:spcPts val="0"/>
              </a:spcAft>
            </a:pPr>
            <a:r>
              <a:rPr sz="900" b="0">
                <a:solidFill>
                  <a:srgbClr val="61707F"/>
                </a:solidFill>
                <a:latin typeface="Consolas"/>
              </a:rPr>
              <a:t>BM25 + kNN</a:t>
            </a:r>
          </a:p>
        </p:txBody>
      </p:sp>
      <p:sp>
        <p:nvSpPr>
          <p:cNvPr id="17" name="Down Arrow 16"/>
          <p:cNvSpPr/>
          <p:nvPr/>
        </p:nvSpPr>
        <p:spPr>
          <a:xfrm>
            <a:off x="1252728" y="2176272"/>
            <a:ext cx="128016" cy="182880"/>
          </a:xfrm>
          <a:prstGeom prst="down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87168"/>
            <a:ext cx="1463040" cy="50292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Query</a:t>
            </a:r>
          </a:p>
        </p:txBody>
      </p:sp>
      <p:sp>
        <p:nvSpPr>
          <p:cNvPr id="19" name="Right Arrow 18"/>
          <p:cNvSpPr/>
          <p:nvPr/>
        </p:nvSpPr>
        <p:spPr>
          <a:xfrm>
            <a:off x="2103120" y="2670048"/>
            <a:ext cx="310896"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87168" y="2487168"/>
            <a:ext cx="1691640" cy="50292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Pre-filters</a:t>
            </a:r>
          </a:p>
          <a:p>
            <a:pPr algn="ctr">
              <a:spcBef>
                <a:spcPts val="0"/>
              </a:spcBef>
              <a:spcAft>
                <a:spcPts val="0"/>
              </a:spcAft>
            </a:pPr>
            <a:r>
              <a:rPr sz="900" b="0">
                <a:solidFill>
                  <a:srgbClr val="61707F"/>
                </a:solidFill>
                <a:latin typeface="Consolas"/>
              </a:rPr>
              <a:t>CPC · title · abstract</a:t>
            </a:r>
          </a:p>
        </p:txBody>
      </p:sp>
      <p:sp>
        <p:nvSpPr>
          <p:cNvPr id="21" name="Rectangle 20"/>
          <p:cNvSpPr/>
          <p:nvPr/>
        </p:nvSpPr>
        <p:spPr>
          <a:xfrm>
            <a:off x="2487168" y="2487168"/>
            <a:ext cx="50292" cy="502920"/>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498848" y="2176272"/>
            <a:ext cx="1371600" cy="45720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BM25</a:t>
            </a:r>
          </a:p>
          <a:p>
            <a:pPr algn="ctr">
              <a:spcBef>
                <a:spcPts val="0"/>
              </a:spcBef>
              <a:spcAft>
                <a:spcPts val="0"/>
              </a:spcAft>
            </a:pPr>
            <a:r>
              <a:rPr sz="900" b="0">
                <a:solidFill>
                  <a:srgbClr val="61707F"/>
                </a:solidFill>
                <a:latin typeface="Consolas"/>
              </a:rPr>
              <a:t>lexical</a:t>
            </a:r>
          </a:p>
        </p:txBody>
      </p:sp>
      <p:sp>
        <p:nvSpPr>
          <p:cNvPr id="23" name="Rectangle 22"/>
          <p:cNvSpPr/>
          <p:nvPr/>
        </p:nvSpPr>
        <p:spPr>
          <a:xfrm>
            <a:off x="4498848" y="2798064"/>
            <a:ext cx="1371600" cy="45720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k-NN</a:t>
            </a:r>
          </a:p>
          <a:p>
            <a:pPr algn="ctr">
              <a:spcBef>
                <a:spcPts val="0"/>
              </a:spcBef>
              <a:spcAft>
                <a:spcPts val="0"/>
              </a:spcAft>
            </a:pPr>
            <a:r>
              <a:rPr sz="900" b="0">
                <a:solidFill>
                  <a:srgbClr val="61707F"/>
                </a:solidFill>
                <a:latin typeface="Consolas"/>
              </a:rPr>
              <a:t>semantic</a:t>
            </a:r>
          </a:p>
        </p:txBody>
      </p:sp>
      <p:sp>
        <p:nvSpPr>
          <p:cNvPr id="24" name="Right Arrow 23"/>
          <p:cNvSpPr/>
          <p:nvPr/>
        </p:nvSpPr>
        <p:spPr>
          <a:xfrm>
            <a:off x="4206240" y="2670048"/>
            <a:ext cx="256032"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5897880" y="2670048"/>
            <a:ext cx="182880"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9048" y="2487168"/>
            <a:ext cx="1280160" cy="502920"/>
          </a:xfrm>
          <a:prstGeom prst="rect">
            <a:avLst/>
          </a:prstGeom>
          <a:solidFill>
            <a:srgbClr val="E6ECFD"/>
          </a:solidFill>
          <a:ln w="9525">
            <a:solidFill>
              <a:srgbClr val="1C4FD8"/>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RRF fusion</a:t>
            </a:r>
          </a:p>
          <a:p>
            <a:pPr algn="ctr">
              <a:spcBef>
                <a:spcPts val="0"/>
              </a:spcBef>
              <a:spcAft>
                <a:spcPts val="0"/>
              </a:spcAft>
            </a:pPr>
            <a:r>
              <a:rPr sz="900" b="0">
                <a:solidFill>
                  <a:srgbClr val="61707F"/>
                </a:solidFill>
                <a:latin typeface="Consolas"/>
              </a:rPr>
              <a:t>scale-free</a:t>
            </a:r>
          </a:p>
        </p:txBody>
      </p:sp>
      <p:sp>
        <p:nvSpPr>
          <p:cNvPr id="27" name="Right Arrow 26"/>
          <p:cNvSpPr/>
          <p:nvPr/>
        </p:nvSpPr>
        <p:spPr>
          <a:xfrm>
            <a:off x="7397496" y="2670048"/>
            <a:ext cx="164592"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0376" y="2487168"/>
            <a:ext cx="1508760" cy="50292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Rerank</a:t>
            </a:r>
          </a:p>
          <a:p>
            <a:pPr algn="ctr">
              <a:spcBef>
                <a:spcPts val="0"/>
              </a:spcBef>
              <a:spcAft>
                <a:spcPts val="0"/>
              </a:spcAft>
            </a:pPr>
            <a:r>
              <a:rPr sz="900" b="0">
                <a:solidFill>
                  <a:srgbClr val="61707F"/>
                </a:solidFill>
                <a:latin typeface="Consolas"/>
              </a:rPr>
              <a:t>LTR / CE / LLM</a:t>
            </a:r>
          </a:p>
        </p:txBody>
      </p:sp>
      <p:sp>
        <p:nvSpPr>
          <p:cNvPr id="29" name="Right Arrow 28"/>
          <p:cNvSpPr/>
          <p:nvPr/>
        </p:nvSpPr>
        <p:spPr>
          <a:xfrm>
            <a:off x="9107424" y="2670048"/>
            <a:ext cx="164592"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90304" y="2487168"/>
            <a:ext cx="1417320" cy="50292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Group</a:t>
            </a:r>
          </a:p>
          <a:p>
            <a:pPr algn="ctr">
              <a:spcBef>
                <a:spcPts val="0"/>
              </a:spcBef>
              <a:spcAft>
                <a:spcPts val="0"/>
              </a:spcAft>
            </a:pPr>
            <a:r>
              <a:rPr sz="900" b="0">
                <a:solidFill>
                  <a:srgbClr val="61707F"/>
                </a:solidFill>
                <a:latin typeface="Consolas"/>
              </a:rPr>
              <a:t>by patent</a:t>
            </a:r>
          </a:p>
        </p:txBody>
      </p:sp>
      <p:sp>
        <p:nvSpPr>
          <p:cNvPr id="31" name="Rectangle 30"/>
          <p:cNvSpPr/>
          <p:nvPr/>
        </p:nvSpPr>
        <p:spPr>
          <a:xfrm>
            <a:off x="566928" y="3401568"/>
            <a:ext cx="5391759" cy="868680"/>
          </a:xfrm>
          <a:prstGeom prst="rect">
            <a:avLst/>
          </a:prstGeom>
          <a:solidFill>
            <a:srgbClr val="E6EC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566928" y="3401568"/>
            <a:ext cx="38100" cy="868680"/>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3232" y="3511296"/>
            <a:ext cx="5117439" cy="685800"/>
          </a:xfrm>
          <a:prstGeom prst="rect">
            <a:avLst/>
          </a:prstGeom>
          <a:noFill/>
        </p:spPr>
        <p:txBody>
          <a:bodyPr wrap="square" anchor="t" lIns="0" rIns="0" tIns="0" bIns="0">
            <a:spAutoFit/>
          </a:bodyPr>
          <a:lstStyle/>
          <a:p>
            <a:pPr algn="l">
              <a:spcBef>
                <a:spcPts val="0"/>
              </a:spcBef>
              <a:spcAft>
                <a:spcPts val="400"/>
              </a:spcAft>
            </a:pPr>
            <a:r>
              <a:rPr sz="1200" b="1">
                <a:solidFill>
                  <a:srgbClr val="131A24"/>
                </a:solidFill>
                <a:latin typeface="Calibri"/>
              </a:rPr>
              <a:t>Why both retrievers</a:t>
            </a:r>
          </a:p>
          <a:p>
            <a:pPr algn="l">
              <a:lnSpc>
                <a:spcPct val="120000"/>
              </a:lnSpc>
              <a:spcBef>
                <a:spcPts val="0"/>
              </a:spcBef>
              <a:spcAft>
                <a:spcPts val="0"/>
              </a:spcAft>
            </a:pPr>
            <a:r>
              <a:rPr sz="1100" b="0">
                <a:solidFill>
                  <a:srgbClr val="35424F"/>
                </a:solidFill>
                <a:latin typeface="Calibri"/>
              </a:rPr>
              <a:t>BM25 nails exact component names, materials and legal phrasing. Vectors catch the same mechanism in different words.</a:t>
            </a:r>
          </a:p>
        </p:txBody>
      </p:sp>
      <p:sp>
        <p:nvSpPr>
          <p:cNvPr id="34" name="Rectangle 33"/>
          <p:cNvSpPr/>
          <p:nvPr/>
        </p:nvSpPr>
        <p:spPr>
          <a:xfrm>
            <a:off x="6233007" y="3401568"/>
            <a:ext cx="5391759" cy="868680"/>
          </a:xfrm>
          <a:prstGeom prst="rect">
            <a:avLst/>
          </a:prstGeom>
          <a:solidFill>
            <a:srgbClr val="E6EC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233007" y="3401568"/>
            <a:ext cx="38100" cy="868680"/>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79311" y="3511296"/>
            <a:ext cx="5117439" cy="685800"/>
          </a:xfrm>
          <a:prstGeom prst="rect">
            <a:avLst/>
          </a:prstGeom>
          <a:noFill/>
        </p:spPr>
        <p:txBody>
          <a:bodyPr wrap="square" anchor="t" lIns="0" rIns="0" tIns="0" bIns="0">
            <a:spAutoFit/>
          </a:bodyPr>
          <a:lstStyle/>
          <a:p>
            <a:pPr algn="l">
              <a:spcBef>
                <a:spcPts val="0"/>
              </a:spcBef>
              <a:spcAft>
                <a:spcPts val="400"/>
              </a:spcAft>
            </a:pPr>
            <a:r>
              <a:rPr sz="1200" b="1">
                <a:solidFill>
                  <a:srgbClr val="131A24"/>
                </a:solidFill>
                <a:latin typeface="Calibri"/>
              </a:rPr>
              <a:t>Why RRF, not score addition</a:t>
            </a:r>
          </a:p>
          <a:p>
            <a:pPr algn="l">
              <a:lnSpc>
                <a:spcPct val="120000"/>
              </a:lnSpc>
              <a:spcBef>
                <a:spcPts val="0"/>
              </a:spcBef>
              <a:spcAft>
                <a:spcPts val="0"/>
              </a:spcAft>
            </a:pPr>
            <a:r>
              <a:rPr sz="1100" b="0">
                <a:solidFill>
                  <a:srgbClr val="35424F"/>
                </a:solidFill>
                <a:latin typeface="Calibri"/>
              </a:rPr>
              <a:t>BM25 scores sit in the tens, cosine in 0–1. RRF is scale-free and needs no tuned weight.</a:t>
            </a:r>
          </a:p>
        </p:txBody>
      </p:sp>
      <p:sp>
        <p:nvSpPr>
          <p:cNvPr id="37" name="Rectangle 36"/>
          <p:cNvSpPr/>
          <p:nvPr/>
        </p:nvSpPr>
        <p:spPr>
          <a:xfrm>
            <a:off x="566928" y="4453128"/>
            <a:ext cx="11057839" cy="621792"/>
          </a:xfrm>
          <a:prstGeom prst="rect">
            <a:avLst/>
          </a:prstGeom>
          <a:solidFill>
            <a:srgbClr val="E3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566928" y="4453128"/>
            <a:ext cx="38100" cy="621792"/>
          </a:xfrm>
          <a:prstGeom prst="rect">
            <a:avLst/>
          </a:prstGeom>
          <a:solidFill>
            <a:srgbClr val="156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3232" y="4562856"/>
            <a:ext cx="10783519" cy="438912"/>
          </a:xfrm>
          <a:prstGeom prst="rect">
            <a:avLst/>
          </a:prstGeom>
          <a:noFill/>
        </p:spPr>
        <p:txBody>
          <a:bodyPr wrap="square" anchor="t" lIns="0" rIns="0" tIns="0" bIns="0">
            <a:spAutoFit/>
          </a:bodyPr>
          <a:lstStyle/>
          <a:p>
            <a:pPr algn="l">
              <a:lnSpc>
                <a:spcPct val="120000"/>
              </a:lnSpc>
              <a:spcBef>
                <a:spcPts val="0"/>
              </a:spcBef>
              <a:spcAft>
                <a:spcPts val="0"/>
              </a:spcAft>
            </a:pPr>
            <a:r>
              <a:rPr sz="1100" b="0">
                <a:solidFill>
                  <a:srgbClr val="35424F"/>
                </a:solidFill>
                <a:latin typeface="Calibri"/>
              </a:rPr>
              <a:t>Filters are pre-filters applied inside k-NN graph traversal. Post-filtering would return far fewer than k under a selective constraint. Verified: with B60B applied, dense and hybrid still return a full 50/50.</a:t>
            </a:r>
          </a:p>
        </p:txBody>
      </p:sp>
      <p:sp>
        <p:nvSpPr>
          <p:cNvPr id="40" name="TextBox 39"/>
          <p:cNvSpPr txBox="1"/>
          <p:nvPr/>
        </p:nvSpPr>
        <p:spPr>
          <a:xfrm>
            <a:off x="566928" y="5221224"/>
            <a:ext cx="11057839" cy="822960"/>
          </a:xfrm>
          <a:prstGeom prst="rect">
            <a:avLst/>
          </a:prstGeom>
          <a:noFill/>
        </p:spPr>
        <p:txBody>
          <a:bodyPr wrap="square" anchor="t" lIns="0" rIns="0" tIns="0" bIns="0">
            <a:spAutoFit/>
          </a:bodyPr>
          <a:lstStyle/>
          <a:p>
            <a:pPr algn="l">
              <a:spcBef>
                <a:spcPts val="0"/>
              </a:spcBef>
              <a:spcAft>
                <a:spcPts val="600"/>
              </a:spcAft>
            </a:pPr>
            <a:r>
              <a:rPr sz="1000" b="1">
                <a:solidFill>
                  <a:srgbClr val="1C4FD8"/>
                </a:solidFill>
                <a:latin typeface="Consolas"/>
              </a:rPr>
              <a:t>EVERY MODEL IS SWAPPABLE BY FLAG — NO CODE CHANGE</a:t>
            </a:r>
          </a:p>
          <a:p>
            <a:pPr algn="l">
              <a:lnSpc>
                <a:spcPct val="115000"/>
              </a:lnSpc>
              <a:spcBef>
                <a:spcPts val="0"/>
              </a:spcBef>
              <a:spcAft>
                <a:spcPts val="300"/>
              </a:spcAft>
            </a:pPr>
            <a:r>
              <a:rPr sz="1150" b="0">
                <a:solidFill>
                  <a:srgbClr val="35424F"/>
                </a:solidFill>
                <a:latin typeface="Calibri"/>
              </a:rPr>
              <a:t>— Embeddings — all-MiniLM / bge / e5 / gte local, or OpenAI hosted</a:t>
            </a:r>
          </a:p>
          <a:p>
            <a:pPr algn="l">
              <a:lnSpc>
                <a:spcPct val="115000"/>
              </a:lnSpc>
              <a:spcBef>
                <a:spcPts val="0"/>
              </a:spcBef>
              <a:spcAft>
                <a:spcPts val="300"/>
              </a:spcAft>
            </a:pPr>
            <a:r>
              <a:rPr sz="1150" b="0">
                <a:solidFill>
                  <a:srgbClr val="35424F"/>
                </a:solidFill>
                <a:latin typeface="Calibri"/>
              </a:rPr>
              <a:t>— Reranker — trained LTR, HuggingFace cross-encoder, LLM, or off</a:t>
            </a:r>
          </a:p>
          <a:p>
            <a:pPr algn="l">
              <a:lnSpc>
                <a:spcPct val="115000"/>
              </a:lnSpc>
              <a:spcBef>
                <a:spcPts val="0"/>
              </a:spcBef>
              <a:spcAft>
                <a:spcPts val="300"/>
              </a:spcAft>
            </a:pPr>
            <a:r>
              <a:rPr sz="1150" b="0">
                <a:solidFill>
                  <a:srgbClr val="35424F"/>
                </a:solidFill>
                <a:latin typeface="Calibri"/>
              </a:rPr>
              <a:t>— Vocabulary — config/synonyms.txt, edit and reindex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66928" cy="292608"/>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a:solidFill>
                  <a:srgbClr val="FFFFFF"/>
                </a:solidFill>
                <a:latin typeface="Consolas"/>
              </a:rPr>
              <a:t>03</a:t>
            </a:r>
          </a:p>
        </p:txBody>
      </p:sp>
      <p:sp>
        <p:nvSpPr>
          <p:cNvPr id="4" name="TextBox 3"/>
          <p:cNvSpPr txBox="1"/>
          <p:nvPr/>
        </p:nvSpPr>
        <p:spPr>
          <a:xfrm>
            <a:off x="566928" y="566928"/>
            <a:ext cx="11057839" cy="219456"/>
          </a:xfrm>
          <a:prstGeom prst="rect">
            <a:avLst/>
          </a:prstGeom>
          <a:noFill/>
        </p:spPr>
        <p:txBody>
          <a:bodyPr wrap="square" anchor="t" lIns="0" rIns="0" tIns="0" bIns="0">
            <a:spAutoFit/>
          </a:bodyPr>
          <a:lstStyle/>
          <a:p>
            <a:pPr algn="l">
              <a:spcBef>
                <a:spcPts val="0"/>
              </a:spcBef>
              <a:spcAft>
                <a:spcPts val="0"/>
              </a:spcAft>
            </a:pPr>
            <a:r>
              <a:rPr sz="1000" b="1">
                <a:solidFill>
                  <a:srgbClr val="1C4FD8"/>
                </a:solidFill>
                <a:latin typeface="Consolas"/>
              </a:rPr>
              <a:t>THE HARD PROBLEM</a:t>
            </a:r>
          </a:p>
        </p:txBody>
      </p:sp>
      <p:sp>
        <p:nvSpPr>
          <p:cNvPr id="5" name="TextBox 4"/>
          <p:cNvSpPr txBox="1"/>
          <p:nvPr/>
        </p:nvSpPr>
        <p:spPr>
          <a:xfrm>
            <a:off x="566928" y="841248"/>
            <a:ext cx="11057839" cy="1115568"/>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31A24"/>
                </a:solidFill>
                <a:latin typeface="Georgia"/>
              </a:rPr>
              <a:t>The claims field is broken, and the obvious fix corrupts it</a:t>
            </a:r>
          </a:p>
        </p:txBody>
      </p:sp>
      <p:sp>
        <p:nvSpPr>
          <p:cNvPr id="6" name="Rectangle 5"/>
          <p:cNvSpPr/>
          <p:nvPr/>
        </p:nvSpPr>
        <p:spPr>
          <a:xfrm>
            <a:off x="566928" y="2048256"/>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2048256"/>
            <a:ext cx="3393338"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68.9%</a:t>
            </a:r>
          </a:p>
          <a:p>
            <a:pPr algn="l">
              <a:lnSpc>
                <a:spcPct val="115000"/>
              </a:lnSpc>
              <a:spcBef>
                <a:spcPts val="0"/>
              </a:spcBef>
              <a:spcAft>
                <a:spcPts val="0"/>
              </a:spcAft>
            </a:pPr>
            <a:r>
              <a:rPr sz="1000" b="0">
                <a:solidFill>
                  <a:srgbClr val="61707F"/>
                </a:solidFill>
                <a:latin typeface="Calibri"/>
              </a:rPr>
              <a:t>of entries begin with a claim number</a:t>
            </a:r>
          </a:p>
        </p:txBody>
      </p:sp>
      <p:sp>
        <p:nvSpPr>
          <p:cNvPr id="8" name="Rectangle 7"/>
          <p:cNvSpPr/>
          <p:nvPr/>
        </p:nvSpPr>
        <p:spPr>
          <a:xfrm>
            <a:off x="4344314" y="2048256"/>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454042" y="2048256"/>
            <a:ext cx="3393338"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88.6%</a:t>
            </a:r>
          </a:p>
          <a:p>
            <a:pPr algn="l">
              <a:lnSpc>
                <a:spcPct val="115000"/>
              </a:lnSpc>
              <a:spcBef>
                <a:spcPts val="0"/>
              </a:spcBef>
              <a:spcAft>
                <a:spcPts val="0"/>
              </a:spcAft>
            </a:pPr>
            <a:r>
              <a:rPr sz="1000" b="0">
                <a:solidFill>
                  <a:srgbClr val="61707F"/>
                </a:solidFill>
                <a:latin typeface="Calibri"/>
              </a:rPr>
              <a:t>of patents open with a numberless fragment</a:t>
            </a:r>
          </a:p>
        </p:txBody>
      </p:sp>
      <p:sp>
        <p:nvSpPr>
          <p:cNvPr id="10" name="Rectangle 9"/>
          <p:cNvSpPr/>
          <p:nvPr/>
        </p:nvSpPr>
        <p:spPr>
          <a:xfrm>
            <a:off x="8121700" y="2048256"/>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31428" y="2048256"/>
            <a:ext cx="3393338"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79.7%</a:t>
            </a:r>
          </a:p>
          <a:p>
            <a:pPr algn="l">
              <a:lnSpc>
                <a:spcPct val="115000"/>
              </a:lnSpc>
              <a:spcBef>
                <a:spcPts val="0"/>
              </a:spcBef>
              <a:spcAft>
                <a:spcPts val="0"/>
              </a:spcAft>
            </a:pPr>
            <a:r>
              <a:rPr sz="1000" b="0">
                <a:solidFill>
                  <a:srgbClr val="61707F"/>
                </a:solidFill>
                <a:latin typeface="Calibri"/>
              </a:rPr>
              <a:t>have no “1.” entry at all</a:t>
            </a:r>
          </a:p>
        </p:txBody>
      </p:sp>
      <p:sp>
        <p:nvSpPr>
          <p:cNvPr id="12" name="TextBox 11"/>
          <p:cNvSpPr txBox="1"/>
          <p:nvPr/>
        </p:nvSpPr>
        <p:spPr>
          <a:xfrm>
            <a:off x="566928" y="2916936"/>
            <a:ext cx="10241280" cy="365760"/>
          </a:xfrm>
          <a:prstGeom prst="rect">
            <a:avLst/>
          </a:prstGeom>
          <a:noFill/>
        </p:spPr>
        <p:txBody>
          <a:bodyPr wrap="square" anchor="t" lIns="0" rIns="0" tIns="0" bIns="0">
            <a:spAutoFit/>
          </a:bodyPr>
          <a:lstStyle/>
          <a:p>
            <a:pPr>
              <a:lnSpc>
                <a:spcPct val="125000"/>
              </a:lnSpc>
              <a:spcBef>
                <a:spcPts val="0"/>
              </a:spcBef>
              <a:spcAft>
                <a:spcPts val="0"/>
              </a:spcAft>
            </a:pPr>
            <a:r>
              <a:rPr sz="1250" b="0">
                <a:solidFill>
                  <a:srgbClr val="35424F"/>
                </a:solidFill>
                <a:latin typeface="Calibri"/>
              </a:rPr>
              <a:t>Preambles are </a:t>
            </a:r>
            <a:r>
              <a:rPr sz="1250" b="1">
                <a:solidFill>
                  <a:srgbClr val="131A24"/>
                </a:solidFill>
                <a:latin typeface="Calibri"/>
              </a:rPr>
              <a:t>stripped, not split</a:t>
            </a:r>
            <a:r>
              <a:rPr sz="1250" b="0">
                <a:solidFill>
                  <a:srgbClr val="35424F"/>
                </a:solidFill>
                <a:latin typeface="Calibri"/>
              </a:rPr>
              <a:t>.  Patent 20240051333 (“SPOKE”) opens mid-sentence — the “1 . A spoke comprising:” is simply gone.</a:t>
            </a:r>
          </a:p>
        </p:txBody>
      </p:sp>
      <p:sp>
        <p:nvSpPr>
          <p:cNvPr id="13" name="Rectangle 12"/>
          <p:cNvSpPr/>
          <p:nvPr/>
        </p:nvSpPr>
        <p:spPr>
          <a:xfrm>
            <a:off x="566928" y="3374136"/>
            <a:ext cx="11057839" cy="713232"/>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3374136"/>
            <a:ext cx="38100" cy="713232"/>
          </a:xfrm>
          <a:prstGeom prst="rect">
            <a:avLst/>
          </a:prstGeom>
          <a:solidFill>
            <a:srgbClr val="A453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3232" y="3483864"/>
            <a:ext cx="10783519" cy="530352"/>
          </a:xfrm>
          <a:prstGeom prst="rect">
            <a:avLst/>
          </a:prstGeom>
          <a:noFill/>
        </p:spPr>
        <p:txBody>
          <a:bodyPr wrap="square" anchor="t" lIns="0" rIns="0" tIns="0" bIns="0">
            <a:spAutoFit/>
          </a:bodyPr>
          <a:lstStyle/>
          <a:p>
            <a:pPr algn="l">
              <a:spcBef>
                <a:spcPts val="0"/>
              </a:spcBef>
              <a:spcAft>
                <a:spcPts val="400"/>
              </a:spcAft>
            </a:pPr>
            <a:r>
              <a:rPr sz="1200" b="1">
                <a:solidFill>
                  <a:srgbClr val="131A24"/>
                </a:solidFill>
                <a:latin typeface="Calibri"/>
              </a:rPr>
              <a:t>Why the obvious rule fails</a:t>
            </a:r>
          </a:p>
          <a:p>
            <a:pPr algn="l">
              <a:lnSpc>
                <a:spcPct val="120000"/>
              </a:lnSpc>
              <a:spcBef>
                <a:spcPts val="0"/>
              </a:spcBef>
              <a:spcAft>
                <a:spcPts val="0"/>
              </a:spcAft>
            </a:pPr>
            <a:r>
              <a:rPr sz="1100" b="0">
                <a:solidFill>
                  <a:srgbClr val="35424F"/>
                </a:solidFill>
                <a:latin typeface="Calibri"/>
              </a:rPr>
              <a:t>“Append every numberless fragment to the previous claim” breaks twice: nothing precedes an index-0 fragment, so claim 1 is dropped; and mid-list fragments are often new independent claims, glued onto their predecessor.</a:t>
            </a:r>
          </a:p>
        </p:txBody>
      </p:sp>
      <p:sp>
        <p:nvSpPr>
          <p:cNvPr id="16" name="Rectangle 15"/>
          <p:cNvSpPr/>
          <p:nvPr/>
        </p:nvSpPr>
        <p:spPr>
          <a:xfrm>
            <a:off x="566928" y="4233672"/>
            <a:ext cx="11057839" cy="786384"/>
          </a:xfrm>
          <a:prstGeom prst="rect">
            <a:avLst/>
          </a:prstGeom>
          <a:solidFill>
            <a:srgbClr val="F4F6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2" y="4343400"/>
            <a:ext cx="10783519" cy="603504"/>
          </a:xfrm>
          <a:prstGeom prst="rect">
            <a:avLst/>
          </a:prstGeom>
          <a:noFill/>
        </p:spPr>
        <p:txBody>
          <a:bodyPr wrap="square" anchor="t" lIns="0" rIns="0" tIns="0" bIns="0">
            <a:spAutoFit/>
          </a:bodyPr>
          <a:lstStyle/>
          <a:p>
            <a:pPr algn="l">
              <a:lnSpc>
                <a:spcPct val="115000"/>
              </a:lnSpc>
              <a:spcBef>
                <a:spcPts val="0"/>
              </a:spcBef>
              <a:spcAft>
                <a:spcPts val="100"/>
              </a:spcAft>
            </a:pPr>
            <a:r>
              <a:rPr sz="1000" b="0">
                <a:solidFill>
                  <a:srgbClr val="61707F"/>
                </a:solidFill>
                <a:latin typeface="Consolas"/>
              </a:rPr>
              <a:t>20240051338, entry 1:</a:t>
            </a:r>
          </a:p>
          <a:p>
            <a:pPr algn="l">
              <a:lnSpc>
                <a:spcPct val="115000"/>
              </a:lnSpc>
              <a:spcBef>
                <a:spcPts val="0"/>
              </a:spcBef>
              <a:spcAft>
                <a:spcPts val="100"/>
              </a:spcAft>
            </a:pPr>
            <a:r>
              <a:rPr sz="1000" b="0">
                <a:solidFill>
                  <a:srgbClr val="35424F"/>
                </a:solidFill>
                <a:latin typeface="Consolas"/>
              </a:rPr>
              <a:t>  prev: '1 - 5 . (canceled)'</a:t>
            </a:r>
          </a:p>
          <a:p>
            <a:pPr algn="l">
              <a:lnSpc>
                <a:spcPct val="115000"/>
              </a:lnSpc>
              <a:spcBef>
                <a:spcPts val="0"/>
              </a:spcBef>
              <a:spcAft>
                <a:spcPts val="100"/>
              </a:spcAft>
            </a:pPr>
            <a:r>
              <a:rPr sz="1000" b="0">
                <a:solidFill>
                  <a:srgbClr val="35424F"/>
                </a:solidFill>
                <a:latin typeface="Consolas"/>
              </a:rPr>
              <a:t>  FRAG: 'a tread portion extending in a tire circumferential direction...'</a:t>
            </a:r>
          </a:p>
          <a:p>
            <a:pPr algn="l">
              <a:lnSpc>
                <a:spcPct val="115000"/>
              </a:lnSpc>
              <a:spcBef>
                <a:spcPts val="0"/>
              </a:spcBef>
              <a:spcAft>
                <a:spcPts val="100"/>
              </a:spcAft>
            </a:pPr>
            <a:r>
              <a:rPr sz="1000" b="0">
                <a:solidFill>
                  <a:srgbClr val="A4530B"/>
                </a:solidFill>
                <a:latin typeface="Consolas"/>
              </a:rPr>
              <a:t>                                                    ^^ this is claim 6</a:t>
            </a:r>
          </a:p>
        </p:txBody>
      </p:sp>
      <p:sp>
        <p:nvSpPr>
          <p:cNvPr id="18" name="TextBox 17"/>
          <p:cNvSpPr txBox="1"/>
          <p:nvPr/>
        </p:nvSpPr>
        <p:spPr>
          <a:xfrm>
            <a:off x="566928" y="5166360"/>
            <a:ext cx="5391759" cy="1188720"/>
          </a:xfrm>
          <a:prstGeom prst="rect">
            <a:avLst/>
          </a:prstGeom>
          <a:noFill/>
        </p:spPr>
        <p:txBody>
          <a:bodyPr wrap="square" anchor="t" lIns="0" rIns="0" tIns="0" bIns="0">
            <a:spAutoFit/>
          </a:bodyPr>
          <a:lstStyle/>
          <a:p>
            <a:pPr algn="l">
              <a:spcBef>
                <a:spcPts val="0"/>
              </a:spcBef>
              <a:spcAft>
                <a:spcPts val="500"/>
              </a:spcAft>
            </a:pPr>
            <a:r>
              <a:rPr sz="1300" b="1">
                <a:solidFill>
                  <a:srgbClr val="131A24"/>
                </a:solidFill>
                <a:latin typeface="Calibri"/>
              </a:rPr>
              <a:t>The rule used instead</a:t>
            </a:r>
          </a:p>
          <a:p>
            <a:pPr>
              <a:lnSpc>
                <a:spcPct val="125000"/>
              </a:lnSpc>
              <a:spcBef>
                <a:spcPts val="0"/>
              </a:spcBef>
              <a:spcAft>
                <a:spcPts val="0"/>
              </a:spcAft>
            </a:pPr>
            <a:r>
              <a:rPr sz="1150" b="1">
                <a:solidFill>
                  <a:srgbClr val="131A24"/>
                </a:solidFill>
                <a:latin typeface="Calibri"/>
              </a:rPr>
              <a:t>Segment first, number second. </a:t>
            </a:r>
            <a:r>
              <a:rPr sz="1150" b="0">
                <a:solidFill>
                  <a:srgbClr val="35424F"/>
                </a:solidFill>
                <a:latin typeface="Calibri"/>
              </a:rPr>
              <a:t>A fragment starts a new claim if it is first, or if the previous entry closed on a full stop. Numbers resolve afterwards by anchoring to the next explicit number. Every uncertain decision is recorded on the claim, so the UI shows provenance instead of pretending the data was clean.</a:t>
            </a:r>
          </a:p>
        </p:txBody>
      </p:sp>
      <p:sp>
        <p:nvSpPr>
          <p:cNvPr id="19" name="Rectangle 18"/>
          <p:cNvSpPr/>
          <p:nvPr/>
        </p:nvSpPr>
        <p:spPr>
          <a:xfrm>
            <a:off x="6233007" y="5166360"/>
            <a:ext cx="5391759" cy="749808"/>
          </a:xfrm>
          <a:prstGeom prst="rect">
            <a:avLst/>
          </a:prstGeom>
          <a:solidFill>
            <a:srgbClr val="E3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33007" y="5166360"/>
            <a:ext cx="38100" cy="749808"/>
          </a:xfrm>
          <a:prstGeom prst="rect">
            <a:avLst/>
          </a:prstGeom>
          <a:solidFill>
            <a:srgbClr val="156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79311" y="5276088"/>
            <a:ext cx="5117439" cy="566928"/>
          </a:xfrm>
          <a:prstGeom prst="rect">
            <a:avLst/>
          </a:prstGeom>
          <a:noFill/>
        </p:spPr>
        <p:txBody>
          <a:bodyPr wrap="square" anchor="t" lIns="0" rIns="0" tIns="0" bIns="0">
            <a:spAutoFit/>
          </a:bodyPr>
          <a:lstStyle/>
          <a:p>
            <a:pPr algn="l">
              <a:lnSpc>
                <a:spcPct val="120000"/>
              </a:lnSpc>
              <a:spcBef>
                <a:spcPts val="0"/>
              </a:spcBef>
              <a:spcAft>
                <a:spcPts val="0"/>
              </a:spcAft>
            </a:pPr>
            <a:r>
              <a:rPr sz="1100" b="0">
                <a:solidFill>
                  <a:srgbClr val="35424F"/>
                </a:solidFill>
                <a:latin typeface="Calibri"/>
              </a:rPr>
              <a:t>Invariant, checked over the whole corpus: all 10,578 source entries are consumed exactly once — zero dropped, zero duplicated.</a:t>
            </a:r>
          </a:p>
        </p:txBody>
      </p:sp>
      <p:sp>
        <p:nvSpPr>
          <p:cNvPr id="22" name="TextBox 21"/>
          <p:cNvSpPr txBox="1"/>
          <p:nvPr/>
        </p:nvSpPr>
        <p:spPr>
          <a:xfrm>
            <a:off x="6342735" y="6035040"/>
            <a:ext cx="5172303" cy="548640"/>
          </a:xfrm>
          <a:prstGeom prst="rect">
            <a:avLst/>
          </a:prstGeom>
          <a:noFill/>
        </p:spPr>
        <p:txBody>
          <a:bodyPr wrap="square" anchor="t" lIns="0" rIns="0" tIns="0" bIns="0">
            <a:spAutoFit/>
          </a:bodyPr>
          <a:lstStyle/>
          <a:p>
            <a:pPr algn="l">
              <a:lnSpc>
                <a:spcPct val="120000"/>
              </a:lnSpc>
              <a:spcBef>
                <a:spcPts val="0"/>
              </a:spcBef>
              <a:spcAft>
                <a:spcPts val="0"/>
              </a:spcAft>
            </a:pPr>
            <a:r>
              <a:rPr sz="1100" b="0">
                <a:solidFill>
                  <a:srgbClr val="35424F"/>
                </a:solidFill>
                <a:latin typeface="Calibri"/>
              </a:rPr>
              <a:t>Tests also cover formats absent from this dataset — “1)” numbering, em-dash cancellation ranges, 120-claim patents — so the parser is not fitted to one 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66928" cy="292608"/>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a:solidFill>
                  <a:srgbClr val="FFFFFF"/>
                </a:solidFill>
                <a:latin typeface="Consolas"/>
              </a:rPr>
              <a:t>04</a:t>
            </a:r>
          </a:p>
        </p:txBody>
      </p:sp>
      <p:sp>
        <p:nvSpPr>
          <p:cNvPr id="4" name="TextBox 3"/>
          <p:cNvSpPr txBox="1"/>
          <p:nvPr/>
        </p:nvSpPr>
        <p:spPr>
          <a:xfrm>
            <a:off x="566928" y="566928"/>
            <a:ext cx="11057839" cy="219456"/>
          </a:xfrm>
          <a:prstGeom prst="rect">
            <a:avLst/>
          </a:prstGeom>
          <a:noFill/>
        </p:spPr>
        <p:txBody>
          <a:bodyPr wrap="square" anchor="t" lIns="0" rIns="0" tIns="0" bIns="0">
            <a:spAutoFit/>
          </a:bodyPr>
          <a:lstStyle/>
          <a:p>
            <a:pPr algn="l">
              <a:spcBef>
                <a:spcPts val="0"/>
              </a:spcBef>
              <a:spcAft>
                <a:spcPts val="0"/>
              </a:spcAft>
            </a:pPr>
            <a:r>
              <a:rPr sz="1000" b="1">
                <a:solidFill>
                  <a:srgbClr val="1C4FD8"/>
                </a:solidFill>
                <a:latin typeface="Consolas"/>
              </a:rPr>
              <a:t>RESULTS</a:t>
            </a:r>
          </a:p>
        </p:txBody>
      </p:sp>
      <p:sp>
        <p:nvSpPr>
          <p:cNvPr id="5" name="TextBox 4"/>
          <p:cNvSpPr txBox="1"/>
          <p:nvPr/>
        </p:nvSpPr>
        <p:spPr>
          <a:xfrm>
            <a:off x="566928" y="841248"/>
            <a:ext cx="11057839" cy="566928"/>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31A24"/>
                </a:solidFill>
                <a:latin typeface="Georgia"/>
              </a:rPr>
              <a:t>The benchmark lied twice before it told the truth</a:t>
            </a:r>
          </a:p>
        </p:txBody>
      </p:sp>
      <p:graphicFrame>
        <p:nvGraphicFramePr>
          <p:cNvPr id="6" name="Table 5"/>
          <p:cNvGraphicFramePr>
            <a:graphicFrameLocks noGrp="1"/>
          </p:cNvGraphicFramePr>
          <p:nvPr/>
        </p:nvGraphicFramePr>
        <p:xfrm>
          <a:off x="566928" y="1554480"/>
          <a:ext cx="11057837" cy="1097280"/>
        </p:xfrm>
        <a:graphic>
          <a:graphicData uri="http://schemas.openxmlformats.org/drawingml/2006/table">
            <a:tbl>
              <a:tblPr bandRow="1">
                <a:tableStyleId>{5C22544A-7EE6-4342-B048-85BDC9FD1C3A}</a:tableStyleId>
              </a:tblPr>
              <a:tblGrid>
                <a:gridCol w="442313"/>
                <a:gridCol w="4644292"/>
                <a:gridCol w="1326940"/>
                <a:gridCol w="4644292"/>
              </a:tblGrid>
              <a:tr h="274320">
                <a:tc>
                  <a:txBody>
                    <a:bodyPr/>
                    <a:lstStyle/>
                    <a:p>
                      <a:pPr algn="l">
                        <a:spcBef>
                          <a:spcPts val="0"/>
                        </a:spcBef>
                        <a:spcAft>
                          <a:spcPts val="0"/>
                        </a:spcAft>
                      </a:pPr>
                      <a:r>
                        <a:rPr sz="850" b="1">
                          <a:solidFill>
                            <a:srgbClr val="61707F"/>
                          </a:solidFill>
                          <a:latin typeface="Consolas"/>
                        </a:rPr>
                        <a:t>#</a:t>
                      </a:r>
                    </a:p>
                  </a:txBody>
                  <a:tcPr marL="64008" marR="64008" anchor="ctr">
                    <a:solidFill>
                      <a:srgbClr val="FFFFFF"/>
                    </a:solidFill>
                  </a:tcPr>
                </a:tc>
                <a:tc>
                  <a:txBody>
                    <a:bodyPr/>
                    <a:lstStyle/>
                    <a:p>
                      <a:pPr algn="l">
                        <a:spcBef>
                          <a:spcPts val="0"/>
                        </a:spcBef>
                        <a:spcAft>
                          <a:spcPts val="0"/>
                        </a:spcAft>
                      </a:pPr>
                      <a:r>
                        <a:rPr sz="850" b="1">
                          <a:solidFill>
                            <a:srgbClr val="61707F"/>
                          </a:solidFill>
                          <a:latin typeface="Consolas"/>
                        </a:rPr>
                        <a:t>TEST COLLECTION</a:t>
                      </a:r>
                    </a:p>
                  </a:txBody>
                  <a:tcPr marL="64008" marR="64008" anchor="ctr">
                    <a:solidFill>
                      <a:srgbClr val="FFFFFF"/>
                    </a:solidFill>
                  </a:tcPr>
                </a:tc>
                <a:tc>
                  <a:txBody>
                    <a:bodyPr/>
                    <a:lstStyle/>
                    <a:p>
                      <a:pPr algn="l">
                        <a:spcBef>
                          <a:spcPts val="0"/>
                        </a:spcBef>
                        <a:spcAft>
                          <a:spcPts val="0"/>
                        </a:spcAft>
                      </a:pPr>
                      <a:r>
                        <a:rPr sz="850" b="1">
                          <a:solidFill>
                            <a:srgbClr val="61707F"/>
                          </a:solidFill>
                          <a:latin typeface="Consolas"/>
                        </a:rPr>
                        <a:t>OVERLAP</a:t>
                      </a:r>
                    </a:p>
                  </a:txBody>
                  <a:tcPr marL="64008" marR="64008" anchor="ctr">
                    <a:solidFill>
                      <a:srgbClr val="FFFFFF"/>
                    </a:solidFill>
                  </a:tcPr>
                </a:tc>
                <a:tc>
                  <a:txBody>
                    <a:bodyPr/>
                    <a:lstStyle/>
                    <a:p>
                      <a:pPr algn="l">
                        <a:spcBef>
                          <a:spcPts val="0"/>
                        </a:spcBef>
                        <a:spcAft>
                          <a:spcPts val="0"/>
                        </a:spcAft>
                      </a:pPr>
                      <a:r>
                        <a:rPr sz="850" b="1">
                          <a:solidFill>
                            <a:srgbClr val="61707F"/>
                          </a:solidFill>
                          <a:latin typeface="Consolas"/>
                        </a:rPr>
                        <a:t>CONCLUSION</a:t>
                      </a:r>
                    </a:p>
                  </a:txBody>
                  <a:tcPr marL="64008" marR="64008" anchor="ctr">
                    <a:solidFill>
                      <a:srgbClr val="FFFFFF"/>
                    </a:solidFill>
                  </a:tcPr>
                </a:tc>
              </a:tr>
              <a:tr h="274320">
                <a:tc>
                  <a:txBody>
                    <a:bodyPr/>
                    <a:lstStyle/>
                    <a:p>
                      <a:pPr algn="l">
                        <a:spcBef>
                          <a:spcPts val="0"/>
                        </a:spcBef>
                        <a:spcAft>
                          <a:spcPts val="0"/>
                        </a:spcAft>
                      </a:pPr>
                      <a:r>
                        <a:rPr sz="1100" b="0">
                          <a:solidFill>
                            <a:srgbClr val="35424F"/>
                          </a:solidFill>
                          <a:latin typeface="Calibri"/>
                        </a:rPr>
                        <a:t>1</a:t>
                      </a:r>
                    </a:p>
                  </a:txBody>
                  <a:tcPr marL="64008" marR="64008" anchor="ctr">
                    <a:solidFill>
                      <a:srgbClr val="FFFFFF"/>
                    </a:solidFill>
                  </a:tcPr>
                </a:tc>
                <a:tc>
                  <a:txBody>
                    <a:bodyPr/>
                    <a:lstStyle/>
                    <a:p>
                      <a:pPr algn="l">
                        <a:spcBef>
                          <a:spcPts val="0"/>
                        </a:spcBef>
                        <a:spcAft>
                          <a:spcPts val="0"/>
                        </a:spcAft>
                      </a:pPr>
                      <a:r>
                        <a:rPr sz="1100" b="0">
                          <a:solidFill>
                            <a:srgbClr val="35424F"/>
                          </a:solidFill>
                          <a:latin typeface="Calibri"/>
                        </a:rPr>
                        <a:t>Patent's own abstract as query</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55.4%</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BM25 wins</a:t>
                      </a:r>
                    </a:p>
                  </a:txBody>
                  <a:tcPr marL="64008" marR="64008" anchor="ctr">
                    <a:solidFill>
                      <a:srgbClr val="FFFFFF"/>
                    </a:solidFill>
                  </a:tcPr>
                </a:tc>
              </a:tr>
              <a:tr h="274320">
                <a:tc>
                  <a:txBody>
                    <a:bodyPr/>
                    <a:lstStyle/>
                    <a:p>
                      <a:pPr algn="l">
                        <a:spcBef>
                          <a:spcPts val="0"/>
                        </a:spcBef>
                        <a:spcAft>
                          <a:spcPts val="0"/>
                        </a:spcAft>
                      </a:pPr>
                      <a:r>
                        <a:rPr sz="1100" b="0">
                          <a:solidFill>
                            <a:srgbClr val="35424F"/>
                          </a:solidFill>
                          <a:latin typeface="Calibri"/>
                        </a:rPr>
                        <a:t>2</a:t>
                      </a:r>
                    </a:p>
                  </a:txBody>
                  <a:tcPr marL="64008" marR="64008" anchor="ctr">
                    <a:solidFill>
                      <a:srgbClr val="FFFFFF"/>
                    </a:solidFill>
                  </a:tcPr>
                </a:tc>
                <a:tc>
                  <a:txBody>
                    <a:bodyPr/>
                    <a:lstStyle/>
                    <a:p>
                      <a:pPr algn="l">
                        <a:spcBef>
                          <a:spcPts val="0"/>
                        </a:spcBef>
                        <a:spcAft>
                          <a:spcPts val="0"/>
                        </a:spcAft>
                      </a:pPr>
                      <a:r>
                        <a:rPr sz="1100" b="0">
                          <a:solidFill>
                            <a:srgbClr val="35424F"/>
                          </a:solidFill>
                          <a:latin typeface="Calibri"/>
                        </a:rPr>
                        <a:t>Queries paraphrased by an LLM</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36.9%</a:t>
                      </a:r>
                    </a:p>
                  </a:txBody>
                  <a:tcPr marL="64008" marR="64008" anchor="ctr">
                    <a:solidFill>
                      <a:srgbClr val="FFFFFF"/>
                    </a:solidFill>
                  </a:tcPr>
                </a:tc>
                <a:tc>
                  <a:txBody>
                    <a:bodyPr/>
                    <a:lstStyle/>
                    <a:p>
                      <a:pPr algn="l">
                        <a:spcBef>
                          <a:spcPts val="0"/>
                        </a:spcBef>
                        <a:spcAft>
                          <a:spcPts val="0"/>
                        </a:spcAft>
                      </a:pPr>
                      <a:r>
                        <a:rPr sz="1100" b="0">
                          <a:solidFill>
                            <a:srgbClr val="35424F"/>
                          </a:solidFill>
                          <a:latin typeface="Calibri"/>
                        </a:rPr>
                        <a:t>Hybrid ahead, not significant</a:t>
                      </a:r>
                    </a:p>
                  </a:txBody>
                  <a:tcPr marL="64008" marR="64008" anchor="ctr">
                    <a:solidFill>
                      <a:srgbClr val="FFFFFF"/>
                    </a:solidFill>
                  </a:tcPr>
                </a:tc>
              </a:tr>
              <a:tr h="274320">
                <a:tc>
                  <a:txBody>
                    <a:bodyPr/>
                    <a:lstStyle/>
                    <a:p>
                      <a:pPr algn="l">
                        <a:spcBef>
                          <a:spcPts val="0"/>
                        </a:spcBef>
                        <a:spcAft>
                          <a:spcPts val="0"/>
                        </a:spcAft>
                      </a:pPr>
                      <a:r>
                        <a:rPr sz="1100" b="1">
                          <a:solidFill>
                            <a:srgbClr val="131A24"/>
                          </a:solidFill>
                          <a:latin typeface="Calibri"/>
                        </a:rPr>
                        <a:t>3</a:t>
                      </a:r>
                    </a:p>
                  </a:txBody>
                  <a:tcPr marL="64008" marR="64008" anchor="ctr">
                    <a:solidFill>
                      <a:srgbClr val="E6ECFD"/>
                    </a:solidFill>
                  </a:tcPr>
                </a:tc>
                <a:tc>
                  <a:txBody>
                    <a:bodyPr/>
                    <a:lstStyle/>
                    <a:p>
                      <a:pPr algn="l">
                        <a:spcBef>
                          <a:spcPts val="0"/>
                        </a:spcBef>
                        <a:spcAft>
                          <a:spcPts val="0"/>
                        </a:spcAft>
                      </a:pPr>
                      <a:r>
                        <a:rPr sz="1100" b="1">
                          <a:solidFill>
                            <a:srgbClr val="131A24"/>
                          </a:solidFill>
                          <a:latin typeface="Calibri"/>
                        </a:rPr>
                        <a:t>TREC pooling + graded assessor</a:t>
                      </a:r>
                    </a:p>
                  </a:txBody>
                  <a:tcPr marL="64008" marR="64008" anchor="ctr">
                    <a:solidFill>
                      <a:srgbClr val="E6ECFD"/>
                    </a:solidFill>
                  </a:tcPr>
                </a:tc>
                <a:tc>
                  <a:txBody>
                    <a:bodyPr/>
                    <a:lstStyle/>
                    <a:p>
                      <a:pPr algn="l">
                        <a:spcBef>
                          <a:spcPts val="0"/>
                        </a:spcBef>
                        <a:spcAft>
                          <a:spcPts val="0"/>
                        </a:spcAft>
                      </a:pPr>
                      <a:r>
                        <a:rPr sz="1100" b="1">
                          <a:solidFill>
                            <a:srgbClr val="131A24"/>
                          </a:solidFill>
                          <a:latin typeface="Calibri"/>
                        </a:rPr>
                        <a:t>—</a:t>
                      </a:r>
                    </a:p>
                  </a:txBody>
                  <a:tcPr marL="64008" marR="64008" anchor="ctr">
                    <a:solidFill>
                      <a:srgbClr val="E6ECFD"/>
                    </a:solidFill>
                  </a:tcPr>
                </a:tc>
                <a:tc>
                  <a:txBody>
                    <a:bodyPr/>
                    <a:lstStyle/>
                    <a:p>
                      <a:pPr algn="r">
                        <a:spcBef>
                          <a:spcPts val="0"/>
                        </a:spcBef>
                        <a:spcAft>
                          <a:spcPts val="0"/>
                        </a:spcAft>
                      </a:pPr>
                      <a:r>
                        <a:rPr sz="1100" b="1">
                          <a:solidFill>
                            <a:srgbClr val="131A24"/>
                          </a:solidFill>
                          <a:latin typeface="Consolas"/>
                        </a:rPr>
                        <a:t>Hybrid wins, p = 0.0003</a:t>
                      </a:r>
                    </a:p>
                  </a:txBody>
                  <a:tcPr marL="64008" marR="64008" anchor="ctr">
                    <a:solidFill>
                      <a:srgbClr val="E6ECFD"/>
                    </a:solidFill>
                  </a:tcPr>
                </a:tc>
              </a:tr>
            </a:tbl>
          </a:graphicData>
        </a:graphic>
      </p:graphicFrame>
      <p:sp>
        <p:nvSpPr>
          <p:cNvPr id="7" name="TextBox 6"/>
          <p:cNvSpPr txBox="1"/>
          <p:nvPr/>
        </p:nvSpPr>
        <p:spPr>
          <a:xfrm>
            <a:off x="566928" y="2761488"/>
            <a:ext cx="11057839" cy="658368"/>
          </a:xfrm>
          <a:prstGeom prst="rect">
            <a:avLst/>
          </a:prstGeom>
          <a:noFill/>
        </p:spPr>
        <p:txBody>
          <a:bodyPr wrap="square" anchor="t" lIns="0" rIns="0" tIns="0" bIns="0">
            <a:spAutoFit/>
          </a:bodyPr>
          <a:lstStyle/>
          <a:p>
            <a:pPr>
              <a:lnSpc>
                <a:spcPct val="125000"/>
              </a:lnSpc>
              <a:spcBef>
                <a:spcPts val="0"/>
              </a:spcBef>
              <a:spcAft>
                <a:spcPts val="0"/>
              </a:spcAft>
            </a:pPr>
            <a:r>
              <a:rPr sz="1200" b="1">
                <a:solidFill>
                  <a:srgbClr val="131A24"/>
                </a:solidFill>
                <a:latin typeface="Calibri"/>
              </a:rPr>
              <a:t>Attempt 1 </a:t>
            </a:r>
            <a:r>
              <a:rPr sz="1200" b="0">
                <a:solidFill>
                  <a:srgbClr val="35424F"/>
                </a:solidFill>
                <a:latin typeface="Calibri"/>
              </a:rPr>
              <a:t>used each patent's own abstract — same drafter, same vocabulary, so 55% of query words appear verbatim in the target and the benchmark rewarded near-duplicate detection. </a:t>
            </a:r>
            <a:r>
              <a:rPr sz="1200" b="1">
                <a:solidFill>
                  <a:srgbClr val="131A24"/>
                </a:solidFill>
                <a:latin typeface="Calibri"/>
              </a:rPr>
              <a:t>Attempt 3 </a:t>
            </a:r>
            <a:r>
              <a:rPr sz="1200" b="0">
                <a:solidFill>
                  <a:srgbClr val="35424F"/>
                </a:solidFill>
                <a:latin typeface="Calibri"/>
              </a:rPr>
              <a:t>found the real flaw: qrels marked only the query's own patent relevant, so when hybrid correctly returned five different flexible-spoke patents, four scored as errors. Pooling surfaced 1,272 cross-patent relevant records the earlier sets counted as mistakes.</a:t>
            </a:r>
          </a:p>
        </p:txBody>
      </p:sp>
      <p:graphicFrame>
        <p:nvGraphicFramePr>
          <p:cNvPr id="8" name="Table 7"/>
          <p:cNvGraphicFramePr>
            <a:graphicFrameLocks noGrp="1"/>
          </p:cNvGraphicFramePr>
          <p:nvPr/>
        </p:nvGraphicFramePr>
        <p:xfrm>
          <a:off x="566928" y="3547872"/>
          <a:ext cx="11057835" cy="1097280"/>
        </p:xfrm>
        <a:graphic>
          <a:graphicData uri="http://schemas.openxmlformats.org/drawingml/2006/table">
            <a:tbl>
              <a:tblPr bandRow="1">
                <a:tableStyleId>{5C22544A-7EE6-4342-B048-85BDC9FD1C3A}</a:tableStyleId>
              </a:tblPr>
              <a:tblGrid>
                <a:gridCol w="2644265"/>
                <a:gridCol w="1682714"/>
                <a:gridCol w="1682714"/>
                <a:gridCol w="1682714"/>
                <a:gridCol w="1442326"/>
                <a:gridCol w="1923102"/>
              </a:tblGrid>
              <a:tr h="274320">
                <a:tc>
                  <a:txBody>
                    <a:bodyPr/>
                    <a:lstStyle/>
                    <a:p>
                      <a:pPr algn="l">
                        <a:spcBef>
                          <a:spcPts val="0"/>
                        </a:spcBef>
                        <a:spcAft>
                          <a:spcPts val="0"/>
                        </a:spcAft>
                      </a:pPr>
                      <a:r>
                        <a:rPr sz="850" b="1">
                          <a:solidFill>
                            <a:srgbClr val="61707F"/>
                          </a:solidFill>
                          <a:latin typeface="Consolas"/>
                        </a:rPr>
                        <a:t>SYSTEM</a:t>
                      </a:r>
                    </a:p>
                  </a:txBody>
                  <a:tcPr marL="64008" marR="64008" anchor="ctr">
                    <a:solidFill>
                      <a:srgbClr val="FFFFFF"/>
                    </a:solidFill>
                  </a:tcPr>
                </a:tc>
                <a:tc>
                  <a:txBody>
                    <a:bodyPr/>
                    <a:lstStyle/>
                    <a:p>
                      <a:pPr algn="r">
                        <a:spcBef>
                          <a:spcPts val="0"/>
                        </a:spcBef>
                        <a:spcAft>
                          <a:spcPts val="0"/>
                        </a:spcAft>
                      </a:pPr>
                      <a:r>
                        <a:rPr sz="850" b="1">
                          <a:solidFill>
                            <a:srgbClr val="61707F"/>
                          </a:solidFill>
                          <a:latin typeface="Consolas"/>
                        </a:rPr>
                        <a:t>RECALL@10</a:t>
                      </a:r>
                    </a:p>
                  </a:txBody>
                  <a:tcPr marL="64008" marR="64008" anchor="ctr">
                    <a:solidFill>
                      <a:srgbClr val="FFFFFF"/>
                    </a:solidFill>
                  </a:tcPr>
                </a:tc>
                <a:tc>
                  <a:txBody>
                    <a:bodyPr/>
                    <a:lstStyle/>
                    <a:p>
                      <a:pPr algn="r">
                        <a:spcBef>
                          <a:spcPts val="0"/>
                        </a:spcBef>
                        <a:spcAft>
                          <a:spcPts val="0"/>
                        </a:spcAft>
                      </a:pPr>
                      <a:r>
                        <a:rPr sz="850" b="1">
                          <a:solidFill>
                            <a:srgbClr val="61707F"/>
                          </a:solidFill>
                          <a:latin typeface="Consolas"/>
                        </a:rPr>
                        <a:t>RECALL@50</a:t>
                      </a:r>
                    </a:p>
                  </a:txBody>
                  <a:tcPr marL="64008" marR="64008" anchor="ctr">
                    <a:solidFill>
                      <a:srgbClr val="FFFFFF"/>
                    </a:solidFill>
                  </a:tcPr>
                </a:tc>
                <a:tc>
                  <a:txBody>
                    <a:bodyPr/>
                    <a:lstStyle/>
                    <a:p>
                      <a:pPr algn="r">
                        <a:spcBef>
                          <a:spcPts val="0"/>
                        </a:spcBef>
                        <a:spcAft>
                          <a:spcPts val="0"/>
                        </a:spcAft>
                      </a:pPr>
                      <a:r>
                        <a:rPr sz="850" b="1">
                          <a:solidFill>
                            <a:srgbClr val="61707F"/>
                          </a:solidFill>
                          <a:latin typeface="Consolas"/>
                        </a:rPr>
                        <a:t>NDCG@10</a:t>
                      </a:r>
                    </a:p>
                  </a:txBody>
                  <a:tcPr marL="64008" marR="64008" anchor="ctr">
                    <a:solidFill>
                      <a:srgbClr val="FFFFFF"/>
                    </a:solidFill>
                  </a:tcPr>
                </a:tc>
                <a:tc>
                  <a:txBody>
                    <a:bodyPr/>
                    <a:lstStyle/>
                    <a:p>
                      <a:pPr algn="l">
                        <a:spcBef>
                          <a:spcPts val="0"/>
                        </a:spcBef>
                        <a:spcAft>
                          <a:spcPts val="0"/>
                        </a:spcAft>
                      </a:pPr>
                      <a:r>
                        <a:rPr sz="850" b="1">
                          <a:solidFill>
                            <a:srgbClr val="61707F"/>
                          </a:solidFill>
                          <a:latin typeface="Consolas"/>
                        </a:rPr>
                        <a:t>P@5</a:t>
                      </a:r>
                    </a:p>
                  </a:txBody>
                  <a:tcPr marL="64008" marR="64008" anchor="ctr">
                    <a:solidFill>
                      <a:srgbClr val="FFFFFF"/>
                    </a:solidFill>
                  </a:tcPr>
                </a:tc>
                <a:tc>
                  <a:txBody>
                    <a:bodyPr/>
                    <a:lstStyle/>
                    <a:p>
                      <a:pPr algn="l">
                        <a:spcBef>
                          <a:spcPts val="0"/>
                        </a:spcBef>
                        <a:spcAft>
                          <a:spcPts val="0"/>
                        </a:spcAft>
                      </a:pPr>
                      <a:r>
                        <a:rPr sz="850" b="1">
                          <a:solidFill>
                            <a:srgbClr val="61707F"/>
                          </a:solidFill>
                          <a:latin typeface="Consolas"/>
                        </a:rPr>
                        <a:t>P50 LATENCY</a:t>
                      </a:r>
                    </a:p>
                  </a:txBody>
                  <a:tcPr marL="64008" marR="64008" anchor="ctr">
                    <a:solidFill>
                      <a:srgbClr val="FFFFFF"/>
                    </a:solidFill>
                  </a:tcPr>
                </a:tc>
              </a:tr>
              <a:tr h="274320">
                <a:tc>
                  <a:txBody>
                    <a:bodyPr/>
                    <a:lstStyle/>
                    <a:p>
                      <a:pPr algn="l">
                        <a:spcBef>
                          <a:spcPts val="0"/>
                        </a:spcBef>
                        <a:spcAft>
                          <a:spcPts val="0"/>
                        </a:spcAft>
                      </a:pPr>
                      <a:r>
                        <a:rPr sz="1100" b="0">
                          <a:solidFill>
                            <a:srgbClr val="35424F"/>
                          </a:solidFill>
                          <a:latin typeface="Calibri"/>
                        </a:rPr>
                        <a:t>BM25</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0.205</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0.405</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0.527</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0.858</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4.4 ms</a:t>
                      </a:r>
                    </a:p>
                  </a:txBody>
                  <a:tcPr marL="64008" marR="64008" anchor="ctr">
                    <a:solidFill>
                      <a:srgbClr val="FFFFFF"/>
                    </a:solidFill>
                  </a:tcPr>
                </a:tc>
              </a:tr>
              <a:tr h="274320">
                <a:tc>
                  <a:txBody>
                    <a:bodyPr/>
                    <a:lstStyle/>
                    <a:p>
                      <a:pPr algn="l">
                        <a:spcBef>
                          <a:spcPts val="0"/>
                        </a:spcBef>
                        <a:spcAft>
                          <a:spcPts val="0"/>
                        </a:spcAft>
                      </a:pPr>
                      <a:r>
                        <a:rPr sz="1100" b="0">
                          <a:solidFill>
                            <a:srgbClr val="35424F"/>
                          </a:solidFill>
                          <a:latin typeface="Calibri"/>
                        </a:rPr>
                        <a:t>Dense</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0.253</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0.463</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0.584</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0.930</a:t>
                      </a:r>
                    </a:p>
                  </a:txBody>
                  <a:tcPr marL="64008" marR="64008" anchor="ctr">
                    <a:solidFill>
                      <a:srgbClr val="FFFFFF"/>
                    </a:solidFill>
                  </a:tcPr>
                </a:tc>
                <a:tc>
                  <a:txBody>
                    <a:bodyPr/>
                    <a:lstStyle/>
                    <a:p>
                      <a:pPr algn="r">
                        <a:spcBef>
                          <a:spcPts val="0"/>
                        </a:spcBef>
                        <a:spcAft>
                          <a:spcPts val="0"/>
                        </a:spcAft>
                      </a:pPr>
                      <a:r>
                        <a:rPr sz="1100" b="0">
                          <a:solidFill>
                            <a:srgbClr val="35424F"/>
                          </a:solidFill>
                          <a:latin typeface="Consolas"/>
                        </a:rPr>
                        <a:t>310 ms</a:t>
                      </a:r>
                    </a:p>
                  </a:txBody>
                  <a:tcPr marL="64008" marR="64008" anchor="ctr">
                    <a:solidFill>
                      <a:srgbClr val="FFFFFF"/>
                    </a:solidFill>
                  </a:tcPr>
                </a:tc>
              </a:tr>
              <a:tr h="274320">
                <a:tc>
                  <a:txBody>
                    <a:bodyPr/>
                    <a:lstStyle/>
                    <a:p>
                      <a:pPr algn="l">
                        <a:spcBef>
                          <a:spcPts val="0"/>
                        </a:spcBef>
                        <a:spcAft>
                          <a:spcPts val="0"/>
                        </a:spcAft>
                      </a:pPr>
                      <a:r>
                        <a:rPr sz="1100" b="1">
                          <a:solidFill>
                            <a:srgbClr val="131A24"/>
                          </a:solidFill>
                          <a:latin typeface="Calibri"/>
                        </a:rPr>
                        <a:t>Hybrid</a:t>
                      </a:r>
                    </a:p>
                  </a:txBody>
                  <a:tcPr marL="64008" marR="64008" anchor="ctr">
                    <a:solidFill>
                      <a:srgbClr val="E6ECFD"/>
                    </a:solidFill>
                  </a:tcPr>
                </a:tc>
                <a:tc>
                  <a:txBody>
                    <a:bodyPr/>
                    <a:lstStyle/>
                    <a:p>
                      <a:pPr algn="r">
                        <a:spcBef>
                          <a:spcPts val="0"/>
                        </a:spcBef>
                        <a:spcAft>
                          <a:spcPts val="0"/>
                        </a:spcAft>
                      </a:pPr>
                      <a:r>
                        <a:rPr sz="1100" b="1">
                          <a:solidFill>
                            <a:srgbClr val="131A24"/>
                          </a:solidFill>
                          <a:latin typeface="Consolas"/>
                        </a:rPr>
                        <a:t>0.223</a:t>
                      </a:r>
                    </a:p>
                  </a:txBody>
                  <a:tcPr marL="64008" marR="64008" anchor="ctr">
                    <a:solidFill>
                      <a:srgbClr val="E6ECFD"/>
                    </a:solidFill>
                  </a:tcPr>
                </a:tc>
                <a:tc>
                  <a:txBody>
                    <a:bodyPr/>
                    <a:lstStyle/>
                    <a:p>
                      <a:pPr algn="r">
                        <a:spcBef>
                          <a:spcPts val="0"/>
                        </a:spcBef>
                        <a:spcAft>
                          <a:spcPts val="0"/>
                        </a:spcAft>
                      </a:pPr>
                      <a:r>
                        <a:rPr sz="1100" b="1">
                          <a:solidFill>
                            <a:srgbClr val="131A24"/>
                          </a:solidFill>
                          <a:latin typeface="Consolas"/>
                        </a:rPr>
                        <a:t>0.616</a:t>
                      </a:r>
                    </a:p>
                  </a:txBody>
                  <a:tcPr marL="64008" marR="64008" anchor="ctr">
                    <a:solidFill>
                      <a:srgbClr val="E6ECFD"/>
                    </a:solidFill>
                  </a:tcPr>
                </a:tc>
                <a:tc>
                  <a:txBody>
                    <a:bodyPr/>
                    <a:lstStyle/>
                    <a:p>
                      <a:pPr algn="r">
                        <a:spcBef>
                          <a:spcPts val="0"/>
                        </a:spcBef>
                        <a:spcAft>
                          <a:spcPts val="0"/>
                        </a:spcAft>
                      </a:pPr>
                      <a:r>
                        <a:rPr sz="1100" b="1">
                          <a:solidFill>
                            <a:srgbClr val="131A24"/>
                          </a:solidFill>
                          <a:latin typeface="Consolas"/>
                        </a:rPr>
                        <a:t>0.590</a:t>
                      </a:r>
                    </a:p>
                  </a:txBody>
                  <a:tcPr marL="64008" marR="64008" anchor="ctr">
                    <a:solidFill>
                      <a:srgbClr val="E6ECFD"/>
                    </a:solidFill>
                  </a:tcPr>
                </a:tc>
                <a:tc>
                  <a:txBody>
                    <a:bodyPr/>
                    <a:lstStyle/>
                    <a:p>
                      <a:pPr algn="r">
                        <a:spcBef>
                          <a:spcPts val="0"/>
                        </a:spcBef>
                        <a:spcAft>
                          <a:spcPts val="0"/>
                        </a:spcAft>
                      </a:pPr>
                      <a:r>
                        <a:rPr sz="1100" b="1">
                          <a:solidFill>
                            <a:srgbClr val="131A24"/>
                          </a:solidFill>
                          <a:latin typeface="Consolas"/>
                        </a:rPr>
                        <a:t>0.885</a:t>
                      </a:r>
                    </a:p>
                  </a:txBody>
                  <a:tcPr marL="64008" marR="64008" anchor="ctr">
                    <a:solidFill>
                      <a:srgbClr val="E6ECFD"/>
                    </a:solidFill>
                  </a:tcPr>
                </a:tc>
                <a:tc>
                  <a:txBody>
                    <a:bodyPr/>
                    <a:lstStyle/>
                    <a:p>
                      <a:pPr algn="r">
                        <a:spcBef>
                          <a:spcPts val="0"/>
                        </a:spcBef>
                        <a:spcAft>
                          <a:spcPts val="0"/>
                        </a:spcAft>
                      </a:pPr>
                      <a:r>
                        <a:rPr sz="1100" b="1">
                          <a:solidFill>
                            <a:srgbClr val="131A24"/>
                          </a:solidFill>
                          <a:latin typeface="Consolas"/>
                        </a:rPr>
                        <a:t>322 ms</a:t>
                      </a:r>
                    </a:p>
                  </a:txBody>
                  <a:tcPr marL="64008" marR="64008" anchor="ctr">
                    <a:solidFill>
                      <a:srgbClr val="E6ECFD"/>
                    </a:solidFill>
                  </a:tcPr>
                </a:tc>
              </a:tr>
            </a:tbl>
          </a:graphicData>
        </a:graphic>
      </p:graphicFrame>
      <p:sp>
        <p:nvSpPr>
          <p:cNvPr id="9" name="Rectangle 8"/>
          <p:cNvSpPr/>
          <p:nvPr/>
        </p:nvSpPr>
        <p:spPr>
          <a:xfrm>
            <a:off x="566928" y="4754880"/>
            <a:ext cx="5391759" cy="822960"/>
          </a:xfrm>
          <a:prstGeom prst="rect">
            <a:avLst/>
          </a:prstGeom>
          <a:solidFill>
            <a:srgbClr val="F4F6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4864608"/>
            <a:ext cx="5117439" cy="640080"/>
          </a:xfrm>
          <a:prstGeom prst="rect">
            <a:avLst/>
          </a:prstGeom>
          <a:noFill/>
        </p:spPr>
        <p:txBody>
          <a:bodyPr wrap="square" anchor="t" lIns="0" rIns="0" tIns="0" bIns="0">
            <a:spAutoFit/>
          </a:bodyPr>
          <a:lstStyle/>
          <a:p>
            <a:pPr algn="l">
              <a:lnSpc>
                <a:spcPct val="115000"/>
              </a:lnSpc>
              <a:spcBef>
                <a:spcPts val="0"/>
              </a:spcBef>
              <a:spcAft>
                <a:spcPts val="100"/>
              </a:spcAft>
            </a:pPr>
            <a:r>
              <a:rPr sz="1000" b="0">
                <a:solidFill>
                  <a:srgbClr val="61707F"/>
                </a:solidFill>
                <a:latin typeface="Consolas"/>
              </a:rPr>
              <a:t>paired bootstrap, n=80</a:t>
            </a:r>
          </a:p>
          <a:p>
            <a:pPr algn="l">
              <a:lnSpc>
                <a:spcPct val="115000"/>
              </a:lnSpc>
              <a:spcBef>
                <a:spcPts val="0"/>
              </a:spcBef>
              <a:spcAft>
                <a:spcPts val="100"/>
              </a:spcAft>
            </a:pPr>
            <a:r>
              <a:rPr sz="1000" b="0">
                <a:solidFill>
                  <a:srgbClr val="15683C"/>
                </a:solidFill>
                <a:latin typeface="Consolas"/>
              </a:rPr>
              <a:t>recall@50  +0.2109  p=0.0001 *   +52%</a:t>
            </a:r>
          </a:p>
          <a:p>
            <a:pPr algn="l">
              <a:lnSpc>
                <a:spcPct val="115000"/>
              </a:lnSpc>
              <a:spcBef>
                <a:spcPts val="0"/>
              </a:spcBef>
              <a:spcAft>
                <a:spcPts val="100"/>
              </a:spcAft>
            </a:pPr>
            <a:r>
              <a:rPr sz="1000" b="0">
                <a:solidFill>
                  <a:srgbClr val="15683C"/>
                </a:solidFill>
                <a:latin typeface="Consolas"/>
              </a:rPr>
              <a:t>ndcg@10    +0.0627  p=0.0003 *</a:t>
            </a:r>
          </a:p>
        </p:txBody>
      </p:sp>
      <p:sp>
        <p:nvSpPr>
          <p:cNvPr id="11" name="Rectangle 10"/>
          <p:cNvSpPr/>
          <p:nvPr/>
        </p:nvSpPr>
        <p:spPr>
          <a:xfrm>
            <a:off x="6233007" y="4754880"/>
            <a:ext cx="5391759" cy="822960"/>
          </a:xfrm>
          <a:prstGeom prst="rect">
            <a:avLst/>
          </a:prstGeom>
          <a:solidFill>
            <a:srgbClr val="F4F6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79311" y="4864608"/>
            <a:ext cx="5117439" cy="640080"/>
          </a:xfrm>
          <a:prstGeom prst="rect">
            <a:avLst/>
          </a:prstGeom>
          <a:noFill/>
        </p:spPr>
        <p:txBody>
          <a:bodyPr wrap="square" anchor="t" lIns="0" rIns="0" tIns="0" bIns="0">
            <a:spAutoFit/>
          </a:bodyPr>
          <a:lstStyle/>
          <a:p>
            <a:pPr algn="l">
              <a:lnSpc>
                <a:spcPct val="115000"/>
              </a:lnSpc>
              <a:spcBef>
                <a:spcPts val="0"/>
              </a:spcBef>
              <a:spcAft>
                <a:spcPts val="100"/>
              </a:spcAft>
            </a:pPr>
            <a:r>
              <a:rPr sz="1000" b="0">
                <a:solidFill>
                  <a:srgbClr val="61707F"/>
                </a:solidFill>
                <a:latin typeface="Consolas"/>
              </a:rPr>
              <a:t>+ trained reranker, 22 held-out queries</a:t>
            </a:r>
          </a:p>
          <a:p>
            <a:pPr algn="l">
              <a:lnSpc>
                <a:spcPct val="115000"/>
              </a:lnSpc>
              <a:spcBef>
                <a:spcPts val="0"/>
              </a:spcBef>
              <a:spcAft>
                <a:spcPts val="100"/>
              </a:spcAft>
            </a:pPr>
            <a:r>
              <a:rPr sz="1000" b="0">
                <a:solidFill>
                  <a:srgbClr val="15683C"/>
                </a:solidFill>
                <a:latin typeface="Consolas"/>
              </a:rPr>
              <a:t>ndcg@10    0.633 -&gt; 0.753   p=0.0001 *</a:t>
            </a:r>
          </a:p>
          <a:p>
            <a:pPr algn="l">
              <a:lnSpc>
                <a:spcPct val="115000"/>
              </a:lnSpc>
              <a:spcBef>
                <a:spcPts val="0"/>
              </a:spcBef>
              <a:spcAft>
                <a:spcPts val="100"/>
              </a:spcAft>
            </a:pPr>
            <a:r>
              <a:rPr sz="1000" b="0">
                <a:solidFill>
                  <a:srgbClr val="A4530B"/>
                </a:solidFill>
                <a:latin typeface="Consolas"/>
              </a:rPr>
              <a:t>recall@50  0.616 -&gt; 0.616   p=1.0000  &lt;- correct</a:t>
            </a:r>
          </a:p>
        </p:txBody>
      </p:sp>
      <p:sp>
        <p:nvSpPr>
          <p:cNvPr id="13" name="Rectangle 12"/>
          <p:cNvSpPr/>
          <p:nvPr/>
        </p:nvSpPr>
        <p:spPr>
          <a:xfrm>
            <a:off x="566928" y="5705856"/>
            <a:ext cx="11057839" cy="566928"/>
          </a:xfrm>
          <a:prstGeom prst="rect">
            <a:avLst/>
          </a:prstGeom>
          <a:solidFill>
            <a:srgbClr val="E3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5705856"/>
            <a:ext cx="38100" cy="566928"/>
          </a:xfrm>
          <a:prstGeom prst="rect">
            <a:avLst/>
          </a:prstGeom>
          <a:solidFill>
            <a:srgbClr val="156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3232" y="5815584"/>
            <a:ext cx="10783519" cy="384048"/>
          </a:xfrm>
          <a:prstGeom prst="rect">
            <a:avLst/>
          </a:prstGeom>
          <a:noFill/>
        </p:spPr>
        <p:txBody>
          <a:bodyPr wrap="square" anchor="t" lIns="0" rIns="0" tIns="0" bIns="0">
            <a:spAutoFit/>
          </a:bodyPr>
          <a:lstStyle/>
          <a:p>
            <a:pPr algn="l">
              <a:lnSpc>
                <a:spcPct val="120000"/>
              </a:lnSpc>
              <a:spcBef>
                <a:spcPts val="0"/>
              </a:spcBef>
              <a:spcAft>
                <a:spcPts val="0"/>
              </a:spcAft>
            </a:pPr>
            <a:r>
              <a:rPr sz="1100" b="0">
                <a:solidFill>
                  <a:srgbClr val="35424F"/>
                </a:solidFill>
                <a:latin typeface="Calibri"/>
              </a:rPr>
              <a:t>That last line is a correctness proof, not a null result: a reranker reorders the candidates it was given and cannot change which documents retrieval found. Separately — of dense search's 320 ms, 315 ms is the hosted embedding API and only 5.9 ms is OpenSearch.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66928" cy="292608"/>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a:solidFill>
                  <a:srgbClr val="FFFFFF"/>
                </a:solidFill>
                <a:latin typeface="Consolas"/>
              </a:rPr>
              <a:t>05</a:t>
            </a:r>
          </a:p>
        </p:txBody>
      </p:sp>
      <p:sp>
        <p:nvSpPr>
          <p:cNvPr id="4" name="TextBox 3"/>
          <p:cNvSpPr txBox="1"/>
          <p:nvPr/>
        </p:nvSpPr>
        <p:spPr>
          <a:xfrm>
            <a:off x="566928" y="566928"/>
            <a:ext cx="11057839" cy="219456"/>
          </a:xfrm>
          <a:prstGeom prst="rect">
            <a:avLst/>
          </a:prstGeom>
          <a:noFill/>
        </p:spPr>
        <p:txBody>
          <a:bodyPr wrap="square" anchor="t" lIns="0" rIns="0" tIns="0" bIns="0">
            <a:spAutoFit/>
          </a:bodyPr>
          <a:lstStyle/>
          <a:p>
            <a:pPr algn="l">
              <a:spcBef>
                <a:spcPts val="0"/>
              </a:spcBef>
              <a:spcAft>
                <a:spcPts val="0"/>
              </a:spcAft>
            </a:pPr>
            <a:r>
              <a:rPr sz="1000" b="1">
                <a:solidFill>
                  <a:srgbClr val="1C4FD8"/>
                </a:solidFill>
                <a:latin typeface="Consolas"/>
              </a:rPr>
              <a:t>PART 2 · IMPLEMENTATION AT SCALE</a:t>
            </a:r>
          </a:p>
        </p:txBody>
      </p:sp>
      <p:sp>
        <p:nvSpPr>
          <p:cNvPr id="5" name="TextBox 4"/>
          <p:cNvSpPr txBox="1"/>
          <p:nvPr/>
        </p:nvSpPr>
        <p:spPr>
          <a:xfrm>
            <a:off x="566928" y="841248"/>
            <a:ext cx="11057839" cy="566928"/>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31A24"/>
                </a:solidFill>
                <a:latin typeface="Georgia"/>
              </a:rPr>
              <a:t>From 640 patents to 10 million</a:t>
            </a:r>
          </a:p>
        </p:txBody>
      </p:sp>
      <p:sp>
        <p:nvSpPr>
          <p:cNvPr id="6" name="Rectangle 5"/>
          <p:cNvSpPr/>
          <p:nvPr/>
        </p:nvSpPr>
        <p:spPr>
          <a:xfrm>
            <a:off x="566928" y="1810512"/>
            <a:ext cx="1371600" cy="54864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USPTO</a:t>
            </a:r>
          </a:p>
          <a:p>
            <a:pPr algn="ctr">
              <a:spcBef>
                <a:spcPts val="0"/>
              </a:spcBef>
              <a:spcAft>
                <a:spcPts val="0"/>
              </a:spcAft>
            </a:pPr>
            <a:r>
              <a:rPr sz="900" b="0">
                <a:solidFill>
                  <a:srgbClr val="61707F"/>
                </a:solidFill>
                <a:latin typeface="Consolas"/>
              </a:rPr>
              <a:t>weekly bulk</a:t>
            </a:r>
          </a:p>
        </p:txBody>
      </p:sp>
      <p:sp>
        <p:nvSpPr>
          <p:cNvPr id="7" name="Right Arrow 6"/>
          <p:cNvSpPr/>
          <p:nvPr/>
        </p:nvSpPr>
        <p:spPr>
          <a:xfrm>
            <a:off x="2011680" y="2029968"/>
            <a:ext cx="274320"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59152" y="1810512"/>
            <a:ext cx="1280160" cy="548640"/>
          </a:xfrm>
          <a:prstGeom prst="rect">
            <a:avLst/>
          </a:prstGeom>
          <a:solidFill>
            <a:srgbClr val="F4F6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S3</a:t>
            </a:r>
          </a:p>
          <a:p>
            <a:pPr algn="ctr">
              <a:spcBef>
                <a:spcPts val="0"/>
              </a:spcBef>
              <a:spcAft>
                <a:spcPts val="0"/>
              </a:spcAft>
            </a:pPr>
            <a:r>
              <a:rPr sz="900" b="0">
                <a:solidFill>
                  <a:srgbClr val="61707F"/>
                </a:solidFill>
                <a:latin typeface="Consolas"/>
              </a:rPr>
              <a:t>immutable</a:t>
            </a:r>
          </a:p>
        </p:txBody>
      </p:sp>
      <p:sp>
        <p:nvSpPr>
          <p:cNvPr id="9" name="Right Arrow 8"/>
          <p:cNvSpPr/>
          <p:nvPr/>
        </p:nvSpPr>
        <p:spPr>
          <a:xfrm>
            <a:off x="3712464" y="2029968"/>
            <a:ext cx="274320"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59936" y="1810512"/>
            <a:ext cx="1371600" cy="548640"/>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200" b="1">
                <a:solidFill>
                  <a:srgbClr val="131A24"/>
                </a:solidFill>
                <a:latin typeface="Calibri"/>
              </a:rPr>
              <a:t>Queue</a:t>
            </a:r>
          </a:p>
          <a:p>
            <a:pPr algn="ctr">
              <a:spcBef>
                <a:spcPts val="0"/>
              </a:spcBef>
              <a:spcAft>
                <a:spcPts val="0"/>
              </a:spcAft>
            </a:pPr>
            <a:r>
              <a:rPr sz="900" b="0">
                <a:solidFill>
                  <a:srgbClr val="61707F"/>
                </a:solidFill>
                <a:latin typeface="Consolas"/>
              </a:rPr>
              <a:t>1 msg/patent</a:t>
            </a:r>
          </a:p>
        </p:txBody>
      </p:sp>
      <p:sp>
        <p:nvSpPr>
          <p:cNvPr id="11" name="Rectangle 10"/>
          <p:cNvSpPr/>
          <p:nvPr/>
        </p:nvSpPr>
        <p:spPr>
          <a:xfrm>
            <a:off x="4059936" y="1810512"/>
            <a:ext cx="50292" cy="548640"/>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705856" y="1554480"/>
            <a:ext cx="1188720" cy="402336"/>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000" b="1">
                <a:solidFill>
                  <a:srgbClr val="131A24"/>
                </a:solidFill>
                <a:latin typeface="Calibri"/>
              </a:rPr>
              <a:t>Parser</a:t>
            </a:r>
          </a:p>
        </p:txBody>
      </p:sp>
      <p:sp>
        <p:nvSpPr>
          <p:cNvPr id="13" name="Rectangle 12"/>
          <p:cNvSpPr/>
          <p:nvPr/>
        </p:nvSpPr>
        <p:spPr>
          <a:xfrm>
            <a:off x="7004304" y="1554480"/>
            <a:ext cx="1188720" cy="402336"/>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000" b="1">
                <a:solidFill>
                  <a:srgbClr val="131A24"/>
                </a:solidFill>
                <a:latin typeface="Calibri"/>
              </a:rPr>
              <a:t>Reconstruct</a:t>
            </a:r>
          </a:p>
        </p:txBody>
      </p:sp>
      <p:sp>
        <p:nvSpPr>
          <p:cNvPr id="14" name="Rectangle 13"/>
          <p:cNvSpPr/>
          <p:nvPr/>
        </p:nvSpPr>
        <p:spPr>
          <a:xfrm>
            <a:off x="8302752" y="1554480"/>
            <a:ext cx="1188720" cy="402336"/>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000" b="1">
                <a:solidFill>
                  <a:srgbClr val="131A24"/>
                </a:solidFill>
                <a:latin typeface="Calibri"/>
              </a:rPr>
              <a:t>Embed (GPU)</a:t>
            </a:r>
          </a:p>
        </p:txBody>
      </p:sp>
      <p:sp>
        <p:nvSpPr>
          <p:cNvPr id="15" name="Rectangle 14"/>
          <p:cNvSpPr/>
          <p:nvPr/>
        </p:nvSpPr>
        <p:spPr>
          <a:xfrm>
            <a:off x="9601200" y="1554480"/>
            <a:ext cx="1188720" cy="402336"/>
          </a:xfrm>
          <a:prstGeom prst="rect">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000" b="1">
                <a:solidFill>
                  <a:srgbClr val="131A24"/>
                </a:solidFill>
                <a:latin typeface="Calibri"/>
              </a:rPr>
              <a:t>Index</a:t>
            </a:r>
          </a:p>
        </p:txBody>
      </p:sp>
      <p:sp>
        <p:nvSpPr>
          <p:cNvPr id="16" name="Right Arrow 15"/>
          <p:cNvSpPr/>
          <p:nvPr/>
        </p:nvSpPr>
        <p:spPr>
          <a:xfrm>
            <a:off x="5468112" y="1737360"/>
            <a:ext cx="201168" cy="128016"/>
          </a:xfrm>
          <a:prstGeom prst="right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4496" y="2029968"/>
            <a:ext cx="4206240" cy="15875"/>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300216" y="1956816"/>
            <a:ext cx="15875" cy="73152"/>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598664" y="1956816"/>
            <a:ext cx="15875" cy="73152"/>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897112" y="1956816"/>
            <a:ext cx="15875" cy="73152"/>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0" y="1956816"/>
            <a:ext cx="15875" cy="73152"/>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Down Arrow 21"/>
          <p:cNvSpPr/>
          <p:nvPr/>
        </p:nvSpPr>
        <p:spPr>
          <a:xfrm>
            <a:off x="7123176" y="2029968"/>
            <a:ext cx="128016" cy="182880"/>
          </a:xfrm>
          <a:prstGeom prst="downArrow">
            <a:avLst/>
          </a:prstGeom>
          <a:solidFill>
            <a:srgbClr val="A453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9454895" y="2029968"/>
            <a:ext cx="128016" cy="182880"/>
          </a:xfrm>
          <a:prstGeom prst="downArrow">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2784" y="2249424"/>
            <a:ext cx="1828800" cy="402336"/>
          </a:xfrm>
          <a:prstGeom prst="rect">
            <a:avLst/>
          </a:prstGeom>
          <a:solidFill>
            <a:srgbClr val="FBF0E2"/>
          </a:solidFill>
          <a:ln w="9525">
            <a:solidFill>
              <a:srgbClr val="A4530B"/>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000" b="1">
                <a:solidFill>
                  <a:srgbClr val="131A24"/>
                </a:solidFill>
                <a:latin typeface="Calibri"/>
              </a:rPr>
              <a:t>Postgres</a:t>
            </a:r>
          </a:p>
          <a:p>
            <a:pPr algn="ctr">
              <a:spcBef>
                <a:spcPts val="0"/>
              </a:spcBef>
              <a:spcAft>
                <a:spcPts val="0"/>
              </a:spcAft>
            </a:pPr>
            <a:r>
              <a:rPr sz="900" b="0">
                <a:solidFill>
                  <a:srgbClr val="61707F"/>
                </a:solidFill>
                <a:latin typeface="Consolas"/>
              </a:rPr>
              <a:t>ingestion_jobs</a:t>
            </a:r>
          </a:p>
        </p:txBody>
      </p:sp>
      <p:sp>
        <p:nvSpPr>
          <p:cNvPr id="25" name="Rectangle 24"/>
          <p:cNvSpPr/>
          <p:nvPr/>
        </p:nvSpPr>
        <p:spPr>
          <a:xfrm>
            <a:off x="8494776" y="2249424"/>
            <a:ext cx="1965960" cy="402336"/>
          </a:xfrm>
          <a:prstGeom prst="rect">
            <a:avLst/>
          </a:prstGeom>
          <a:solidFill>
            <a:srgbClr val="E6ECFD"/>
          </a:solidFill>
          <a:ln w="9525">
            <a:solidFill>
              <a:srgbClr val="1C4FD8"/>
            </a:solidFill>
          </a:ln>
          <a:effectLst/>
        </p:spPr>
        <p:style>
          <a:lnRef idx="1">
            <a:schemeClr val="accent1"/>
          </a:lnRef>
          <a:fillRef idx="3">
            <a:schemeClr val="accent1"/>
          </a:fillRef>
          <a:effectRef idx="2">
            <a:schemeClr val="accent1"/>
          </a:effectRef>
          <a:fontRef idx="minor">
            <a:schemeClr val="lt1"/>
          </a:fontRef>
        </p:style>
        <p:txBody>
          <a:bodyPr rtlCol="0" anchor="ctr" wrap="square" rIns="54864" tIns="0" bIns="0"/>
          <a:lstStyle/>
          <a:p>
            <a:pPr algn="ctr">
              <a:spcBef>
                <a:spcPts val="0"/>
              </a:spcBef>
              <a:spcAft>
                <a:spcPts val="0"/>
              </a:spcAft>
            </a:pPr>
            <a:r>
              <a:rPr sz="1000" b="1">
                <a:solidFill>
                  <a:srgbClr val="131A24"/>
                </a:solidFill>
                <a:latin typeface="Calibri"/>
              </a:rPr>
              <a:t>OpenSearch</a:t>
            </a:r>
          </a:p>
          <a:p>
            <a:pPr algn="ctr">
              <a:spcBef>
                <a:spcPts val="0"/>
              </a:spcBef>
              <a:spcAft>
                <a:spcPts val="0"/>
              </a:spcAft>
            </a:pPr>
            <a:r>
              <a:rPr sz="900" b="0">
                <a:solidFill>
                  <a:srgbClr val="61707F"/>
                </a:solidFill>
                <a:latin typeface="Consolas"/>
              </a:rPr>
              <a:t>sharded</a:t>
            </a:r>
          </a:p>
        </p:txBody>
      </p:sp>
      <p:sp>
        <p:nvSpPr>
          <p:cNvPr id="26" name="TextBox 25"/>
          <p:cNvSpPr txBox="1"/>
          <p:nvPr/>
        </p:nvSpPr>
        <p:spPr>
          <a:xfrm>
            <a:off x="6272784" y="2688336"/>
            <a:ext cx="4206240" cy="182880"/>
          </a:xfrm>
          <a:prstGeom prst="rect">
            <a:avLst/>
          </a:prstGeom>
          <a:noFill/>
        </p:spPr>
        <p:txBody>
          <a:bodyPr wrap="square" anchor="t" lIns="0" rIns="0" tIns="0" bIns="0">
            <a:spAutoFit/>
          </a:bodyPr>
          <a:lstStyle/>
          <a:p>
            <a:pPr algn="l">
              <a:spcBef>
                <a:spcPts val="0"/>
              </a:spcBef>
              <a:spcAft>
                <a:spcPts val="0"/>
              </a:spcAft>
            </a:pPr>
            <a:r>
              <a:rPr sz="800" b="0">
                <a:solidFill>
                  <a:srgbClr val="61707F"/>
                </a:solidFill>
                <a:latin typeface="Consolas"/>
              </a:rPr>
              <a:t>status writes                          indexed records</a:t>
            </a:r>
          </a:p>
        </p:txBody>
      </p:sp>
      <p:sp>
        <p:nvSpPr>
          <p:cNvPr id="27" name="Rectangle 26"/>
          <p:cNvSpPr/>
          <p:nvPr/>
        </p:nvSpPr>
        <p:spPr>
          <a:xfrm>
            <a:off x="566928" y="2980944"/>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6656" y="2980944"/>
            <a:ext cx="3393338"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293M</a:t>
            </a:r>
          </a:p>
          <a:p>
            <a:pPr algn="l">
              <a:lnSpc>
                <a:spcPct val="115000"/>
              </a:lnSpc>
              <a:spcBef>
                <a:spcPts val="0"/>
              </a:spcBef>
              <a:spcAft>
                <a:spcPts val="0"/>
              </a:spcAft>
            </a:pPr>
            <a:r>
              <a:rPr sz="1000" b="0">
                <a:solidFill>
                  <a:srgbClr val="61707F"/>
                </a:solidFill>
                <a:latin typeface="Calibri"/>
              </a:rPr>
              <a:t>searchable records at 10M patents (29.3 per patent, measured)</a:t>
            </a:r>
          </a:p>
        </p:txBody>
      </p:sp>
      <p:sp>
        <p:nvSpPr>
          <p:cNvPr id="29" name="Rectangle 28"/>
          <p:cNvSpPr/>
          <p:nvPr/>
        </p:nvSpPr>
        <p:spPr>
          <a:xfrm>
            <a:off x="4344314" y="2980944"/>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454042" y="2980944"/>
            <a:ext cx="3393338"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~$1.4k</a:t>
            </a:r>
          </a:p>
          <a:p>
            <a:pPr algn="l">
              <a:lnSpc>
                <a:spcPct val="115000"/>
              </a:lnSpc>
              <a:spcBef>
                <a:spcPts val="0"/>
              </a:spcBef>
              <a:spcAft>
                <a:spcPts val="0"/>
              </a:spcAft>
            </a:pPr>
            <a:r>
              <a:rPr sz="1000" b="0">
                <a:solidFill>
                  <a:srgbClr val="61707F"/>
                </a:solidFill>
                <a:latin typeface="Calibri"/>
              </a:rPr>
              <a:t>one-time embedding backfill · ~$350 self-hosted</a:t>
            </a:r>
          </a:p>
        </p:txBody>
      </p:sp>
      <p:sp>
        <p:nvSpPr>
          <p:cNvPr id="31" name="Rectangle 30"/>
          <p:cNvSpPr/>
          <p:nvPr/>
        </p:nvSpPr>
        <p:spPr>
          <a:xfrm>
            <a:off x="8121700" y="2980944"/>
            <a:ext cx="31750" cy="786384"/>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31428" y="2980944"/>
            <a:ext cx="3393338" cy="786384"/>
          </a:xfrm>
          <a:prstGeom prst="rect">
            <a:avLst/>
          </a:prstGeom>
          <a:noFill/>
        </p:spPr>
        <p:txBody>
          <a:bodyPr wrap="square" anchor="t" lIns="0" rIns="0" tIns="0" bIns="0">
            <a:spAutoFit/>
          </a:bodyPr>
          <a:lstStyle/>
          <a:p>
            <a:pPr algn="l">
              <a:spcBef>
                <a:spcPts val="0"/>
              </a:spcBef>
              <a:spcAft>
                <a:spcPts val="200"/>
              </a:spcAft>
            </a:pPr>
            <a:r>
              <a:rPr sz="2200" b="1">
                <a:solidFill>
                  <a:srgbClr val="131A24"/>
                </a:solidFill>
                <a:latin typeface="Consolas"/>
              </a:rPr>
              <a:t>~$2.6k</a:t>
            </a:r>
          </a:p>
          <a:p>
            <a:pPr algn="l">
              <a:lnSpc>
                <a:spcPct val="115000"/>
              </a:lnSpc>
              <a:spcBef>
                <a:spcPts val="0"/>
              </a:spcBef>
              <a:spcAft>
                <a:spcPts val="0"/>
              </a:spcAft>
            </a:pPr>
            <a:r>
              <a:rPr sz="1000" b="0">
                <a:solidFill>
                  <a:srgbClr val="61707F"/>
                </a:solidFill>
                <a:latin typeface="Calibri"/>
              </a:rPr>
              <a:t>per month steady state · ~$700 optimised</a:t>
            </a:r>
          </a:p>
        </p:txBody>
      </p:sp>
      <p:sp>
        <p:nvSpPr>
          <p:cNvPr id="33" name="TextBox 32"/>
          <p:cNvSpPr txBox="1"/>
          <p:nvPr/>
        </p:nvSpPr>
        <p:spPr>
          <a:xfrm>
            <a:off x="566928" y="3895344"/>
            <a:ext cx="5391759" cy="1188720"/>
          </a:xfrm>
          <a:prstGeom prst="rect">
            <a:avLst/>
          </a:prstGeom>
          <a:noFill/>
        </p:spPr>
        <p:txBody>
          <a:bodyPr wrap="square" anchor="t" lIns="0" rIns="0" tIns="0" bIns="0">
            <a:spAutoFit/>
          </a:bodyPr>
          <a:lstStyle/>
          <a:p>
            <a:pPr algn="l">
              <a:spcBef>
                <a:spcPts val="0"/>
              </a:spcBef>
              <a:spcAft>
                <a:spcPts val="500"/>
              </a:spcAft>
            </a:pPr>
            <a:r>
              <a:rPr sz="1250" b="1">
                <a:solidFill>
                  <a:srgbClr val="131A24"/>
                </a:solidFill>
                <a:latin typeface="Calibri"/>
              </a:rPr>
              <a:t>Vector storage dominates — attack it first</a:t>
            </a:r>
          </a:p>
          <a:p>
            <a:pPr algn="l">
              <a:lnSpc>
                <a:spcPct val="115000"/>
              </a:lnSpc>
              <a:spcBef>
                <a:spcPts val="0"/>
              </a:spcBef>
              <a:spcAft>
                <a:spcPts val="300"/>
              </a:spcAft>
            </a:pPr>
            <a:r>
              <a:rPr sz="1100" b="0">
                <a:solidFill>
                  <a:srgbClr val="35424F"/>
                </a:solidFill>
                <a:latin typeface="Calibri"/>
              </a:rPr>
              <a:t>— 293M × 1536 dims × 4 bytes = 1.8 TB, and HNSW wants it resident</a:t>
            </a:r>
          </a:p>
          <a:p>
            <a:pPr algn="l">
              <a:lnSpc>
                <a:spcPct val="115000"/>
              </a:lnSpc>
              <a:spcBef>
                <a:spcPts val="0"/>
              </a:spcBef>
              <a:spcAft>
                <a:spcPts val="300"/>
              </a:spcAft>
            </a:pPr>
            <a:r>
              <a:rPr sz="1100" b="0">
                <a:solidFill>
                  <a:srgbClr val="35424F"/>
                </a:solidFill>
                <a:latin typeface="Calibri"/>
              </a:rPr>
              <a:t>— Truncate to 512 dims (Matryoshka) -&gt; 600 GB</a:t>
            </a:r>
          </a:p>
          <a:p>
            <a:pPr algn="l">
              <a:lnSpc>
                <a:spcPct val="115000"/>
              </a:lnSpc>
              <a:spcBef>
                <a:spcPts val="0"/>
              </a:spcBef>
              <a:spcAft>
                <a:spcPts val="300"/>
              </a:spcAft>
            </a:pPr>
            <a:r>
              <a:rPr sz="1100" b="0">
                <a:solidFill>
                  <a:srgbClr val="35424F"/>
                </a:solidFill>
                <a:latin typeface="Calibri"/>
              </a:rPr>
              <a:t>— Quantise to int8 -&gt; 150 GB</a:t>
            </a:r>
          </a:p>
          <a:p>
            <a:pPr algn="l">
              <a:lnSpc>
                <a:spcPct val="115000"/>
              </a:lnSpc>
              <a:spcBef>
                <a:spcPts val="0"/>
              </a:spcBef>
              <a:spcAft>
                <a:spcPts val="300"/>
              </a:spcAft>
            </a:pPr>
            <a:r>
              <a:rPr sz="1100" b="0">
                <a:solidFill>
                  <a:srgbClr val="35424F"/>
                </a:solidFill>
                <a:latin typeface="Calibri"/>
              </a:rPr>
              <a:t>— Skip description passages — 38% of records, least queried</a:t>
            </a:r>
          </a:p>
        </p:txBody>
      </p:sp>
      <p:sp>
        <p:nvSpPr>
          <p:cNvPr id="34" name="TextBox 33"/>
          <p:cNvSpPr txBox="1"/>
          <p:nvPr/>
        </p:nvSpPr>
        <p:spPr>
          <a:xfrm>
            <a:off x="6233007" y="3895344"/>
            <a:ext cx="5391759" cy="1188720"/>
          </a:xfrm>
          <a:prstGeom prst="rect">
            <a:avLst/>
          </a:prstGeom>
          <a:noFill/>
        </p:spPr>
        <p:txBody>
          <a:bodyPr wrap="square" anchor="t" lIns="0" rIns="0" tIns="0" bIns="0">
            <a:spAutoFit/>
          </a:bodyPr>
          <a:lstStyle/>
          <a:p>
            <a:pPr algn="l">
              <a:spcBef>
                <a:spcPts val="0"/>
              </a:spcBef>
              <a:spcAft>
                <a:spcPts val="500"/>
              </a:spcAft>
            </a:pPr>
            <a:r>
              <a:rPr sz="1250" b="1">
                <a:solidFill>
                  <a:srgbClr val="131A24"/>
                </a:solidFill>
                <a:latin typeface="Calibri"/>
              </a:rPr>
              <a:t>Proof of concept, on all 640 patents</a:t>
            </a:r>
          </a:p>
          <a:p>
            <a:pPr algn="l">
              <a:lnSpc>
                <a:spcPct val="115000"/>
              </a:lnSpc>
              <a:spcBef>
                <a:spcPts val="0"/>
              </a:spcBef>
              <a:spcAft>
                <a:spcPts val="300"/>
              </a:spcAft>
            </a:pPr>
            <a:r>
              <a:rPr sz="1100" b="0">
                <a:solidFill>
                  <a:srgbClr val="35424F"/>
                </a:solidFill>
                <a:latin typeface="Calibri"/>
              </a:rPr>
              <a:t>— Idempotent — re-running enqueues 0, skips 640</a:t>
            </a:r>
          </a:p>
          <a:p>
            <a:pPr algn="l">
              <a:lnSpc>
                <a:spcPct val="115000"/>
              </a:lnSpc>
              <a:spcBef>
                <a:spcPts val="0"/>
              </a:spcBef>
              <a:spcAft>
                <a:spcPts val="300"/>
              </a:spcAft>
            </a:pPr>
            <a:r>
              <a:rPr sz="1100" b="0">
                <a:solidFill>
                  <a:srgbClr val="35424F"/>
                </a:solidFill>
                <a:latin typeface="Calibri"/>
              </a:rPr>
              <a:t>— Versioned — bumping parser version re-queues all 640</a:t>
            </a:r>
          </a:p>
          <a:p>
            <a:pPr algn="l">
              <a:lnSpc>
                <a:spcPct val="115000"/>
              </a:lnSpc>
              <a:spcBef>
                <a:spcPts val="0"/>
              </a:spcBef>
              <a:spcAft>
                <a:spcPts val="300"/>
              </a:spcAft>
            </a:pPr>
            <a:r>
              <a:rPr sz="1100" b="0">
                <a:solidFill>
                  <a:srgbClr val="35424F"/>
                </a:solidFill>
                <a:latin typeface="Calibri"/>
              </a:rPr>
              <a:t>— Crash-safe — expired leases return to PENDING</a:t>
            </a:r>
          </a:p>
          <a:p>
            <a:pPr algn="l">
              <a:lnSpc>
                <a:spcPct val="115000"/>
              </a:lnSpc>
              <a:spcBef>
                <a:spcPts val="0"/>
              </a:spcBef>
              <a:spcAft>
                <a:spcPts val="300"/>
              </a:spcAft>
            </a:pPr>
            <a:r>
              <a:rPr sz="1100" b="0">
                <a:solidFill>
                  <a:srgbClr val="35424F"/>
                </a:solidFill>
                <a:latin typeface="Calibri"/>
              </a:rPr>
              <a:t>— Retry-tracked — failures record the error and count</a:t>
            </a:r>
          </a:p>
        </p:txBody>
      </p:sp>
      <p:sp>
        <p:nvSpPr>
          <p:cNvPr id="35" name="Rectangle 34"/>
          <p:cNvSpPr/>
          <p:nvPr/>
        </p:nvSpPr>
        <p:spPr>
          <a:xfrm>
            <a:off x="566928" y="5193792"/>
            <a:ext cx="11057839" cy="548640"/>
          </a:xfrm>
          <a:prstGeom prst="rect">
            <a:avLst/>
          </a:prstGeom>
          <a:solidFill>
            <a:srgbClr val="E6EC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66928" y="5193792"/>
            <a:ext cx="38100" cy="548640"/>
          </a:xfrm>
          <a:prstGeom prst="rect">
            <a:avLst/>
          </a:prstGeom>
          <a:solidFill>
            <a:srgbClr val="1C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13232" y="5303520"/>
            <a:ext cx="10783519" cy="365760"/>
          </a:xfrm>
          <a:prstGeom prst="rect">
            <a:avLst/>
          </a:prstGeom>
          <a:noFill/>
        </p:spPr>
        <p:txBody>
          <a:bodyPr wrap="square" anchor="t" lIns="0" rIns="0" tIns="0" bIns="0">
            <a:spAutoFit/>
          </a:bodyPr>
          <a:lstStyle/>
          <a:p>
            <a:pPr algn="l">
              <a:lnSpc>
                <a:spcPct val="120000"/>
              </a:lnSpc>
              <a:spcBef>
                <a:spcPts val="0"/>
              </a:spcBef>
              <a:spcAft>
                <a:spcPts val="0"/>
              </a:spcAft>
            </a:pPr>
            <a:r>
              <a:rPr sz="1100" b="0">
                <a:solidFill>
                  <a:srgbClr val="35424F"/>
                </a:solidFill>
                <a:latin typeface="Calibri"/>
              </a:rPr>
              <a:t>The filter finding inverts at scale: filters cost BM25 +69% here because at 18.7K records there is nothing to save. At 10M patents B60B selects ~0.3% of the corpus, and filtering becomes the dominant optimisation.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